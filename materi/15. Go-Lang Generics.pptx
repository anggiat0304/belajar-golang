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embeddedFontLst>
    <p:embeddedFont>
      <p:font typeface="Raleway"/>
      <p:regular r:id="rId83"/>
      <p:bold r:id="rId84"/>
      <p:italic r:id="rId85"/>
      <p:boldItalic r:id="rId86"/>
    </p:embeddedFont>
    <p:embeddedFont>
      <p:font typeface="Lato"/>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Raleway-bold.fntdata"/><Relationship Id="rId83" Type="http://schemas.openxmlformats.org/officeDocument/2006/relationships/font" Target="fonts/Raleway-regular.fntdata"/><Relationship Id="rId42" Type="http://schemas.openxmlformats.org/officeDocument/2006/relationships/slide" Target="slides/slide36.xml"/><Relationship Id="rId86" Type="http://schemas.openxmlformats.org/officeDocument/2006/relationships/font" Target="fonts/Raleway-boldItalic.fntdata"/><Relationship Id="rId41" Type="http://schemas.openxmlformats.org/officeDocument/2006/relationships/slide" Target="slides/slide35.xml"/><Relationship Id="rId85" Type="http://schemas.openxmlformats.org/officeDocument/2006/relationships/font" Target="fonts/Raleway-italic.fntdata"/><Relationship Id="rId44" Type="http://schemas.openxmlformats.org/officeDocument/2006/relationships/slide" Target="slides/slide38.xml"/><Relationship Id="rId88" Type="http://schemas.openxmlformats.org/officeDocument/2006/relationships/font" Target="fonts/Lato-bold.fntdata"/><Relationship Id="rId43" Type="http://schemas.openxmlformats.org/officeDocument/2006/relationships/slide" Target="slides/slide37.xml"/><Relationship Id="rId87" Type="http://schemas.openxmlformats.org/officeDocument/2006/relationships/font" Target="fonts/Lato-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Lato-italic.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0" Type="http://schemas.openxmlformats.org/officeDocument/2006/relationships/font" Target="fonts/Lato-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o.dev/blog/intro-generic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229c0b82c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229c0b82c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229c0b82c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229c0b82c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29c0b82cc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29c0b82cc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229c0b82cc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229c0b82cc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29c0b82cc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229c0b82cc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29c0b82cc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29c0b82cc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229c0b82cc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229c0b82c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229c0b82cc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229c0b82cc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29c0b82cc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29c0b82cc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229c0b82cc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229c0b82cc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29c0b82cc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29c0b82cc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229c0b82c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229c0b82c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29c0b82cc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29c0b82cc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29c0b82cc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29c0b82cc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29c0b82cc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29c0b82cc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229c0b82cc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229c0b82cc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229c0b82cc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229c0b82cc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229c0b82cc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229c0b82cc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29c0b82cc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229c0b82cc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229c0b82cc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229c0b82cc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229c0b82cc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229c0b82cc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229c0b82cc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229c0b82cc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229c0b82cc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229c0b82cc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29c0b82cc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29c0b82cc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229c0b82cc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229c0b82cc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29c0b82cc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29c0b82cc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229c0b82cc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229c0b82cc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229c0b82cc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229c0b82cc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u="sng">
                <a:solidFill>
                  <a:schemeClr val="hlink"/>
                </a:solidFill>
                <a:hlinkClick r:id="rId2"/>
              </a:rPr>
              <a:t>https://go.dev/blog/intro-generics</a:t>
            </a:r>
            <a:r>
              <a:rPr lang="id"/>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229c0b82cc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229c0b82cc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229c0b82cc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229c0b82cc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229c0b82cc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229c0b82cc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229c0b82cc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229c0b82cc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229c0b82cc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229c0b82cc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229c0b82cc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229c0b82cc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229c0b82cc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229c0b82cc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229c0b82cc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229c0b82cc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229c0b82cc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229c0b82cc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29c0b82cc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229c0b82cc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229c0b82cc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229c0b82cc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229c0b82cc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229c0b82cc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229c0b82cc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229c0b82cc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229c0b82cc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229c0b82cc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229c0b82cc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229c0b82cc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229c0b82cc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229c0b82cc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229c0b82cc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229c0b82cc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29c0b82cc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29c0b82cc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229c0b82cc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229c0b82cc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29c0b82cc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29c0b82cc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229c0b82cc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229c0b82cc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229c0b82cc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229c0b82cc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229c0b82cc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229c0b82cc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229c0b82cc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229c0b82cc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1229c0b82cc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1229c0b82cc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229c0b82cc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229c0b82cc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229c0b82cc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229c0b82cc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229c0b82cc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229c0b82cc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29c0b82cc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29c0b82cc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229c0b82cc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229c0b82cc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229c0b82cc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229c0b82cc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229c0b82cc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229c0b82cc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229c0b82cc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229c0b82cc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229c0b82cc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229c0b82cc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229c0b82cc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229c0b82cc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229c0b82cc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229c0b82cc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29c0b82cc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29c0b82cc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229c0b82cc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229c0b82cc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229c0b82cc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229c0b82cc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229c0b82cc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229c0b82cc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229c0b82cc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229c0b82cc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229c0b82cc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229c0b82cc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229c0b82cc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229c0b82cc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1229c0b82cc_0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1229c0b82cc_0_7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229c0b82cc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229c0b82cc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229c0b82cc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229c0b82cc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229c0b82cc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1229c0b82cc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 Id="rId3" Type="http://schemas.openxmlformats.org/officeDocument/2006/relationships/image" Target="../media/image24.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 Id="rId3" Type="http://schemas.openxmlformats.org/officeDocument/2006/relationships/image" Target="../media/image25.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 Id="rId3" Type="http://schemas.openxmlformats.org/officeDocument/2006/relationships/image" Target="../media/image2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 Id="rId3" Type="http://schemas.openxmlformats.org/officeDocument/2006/relationships/image" Target="../media/image3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 Id="rId3" Type="http://schemas.openxmlformats.org/officeDocument/2006/relationships/image" Target="../media/image3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 Id="rId3" Type="http://schemas.openxmlformats.org/officeDocument/2006/relationships/image" Target="../media/image3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hyperlink" Target="https://pkg.go.dev/golang.org/x/exp"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 Id="rId3" Type="http://schemas.openxmlformats.org/officeDocument/2006/relationships/hyperlink" Target="https://pkg.go.dev/golang.org/x/exp/constraints"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 Id="rId3" Type="http://schemas.openxmlformats.org/officeDocument/2006/relationships/hyperlink" Target="https://pkg.go.dev/golang.org/x/exp/maps" TargetMode="External"/><Relationship Id="rId4" Type="http://schemas.openxmlformats.org/officeDocument/2006/relationships/hyperlink" Target="https://pkg.go.dev/golang.org/x/exp/slices"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 Id="rId3" Type="http://schemas.openxmlformats.org/officeDocument/2006/relationships/image" Target="../media/image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 Id="rId3" Type="http://schemas.openxmlformats.org/officeDocument/2006/relationships/image" Target="../media/image3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Generics</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Generics</a:t>
            </a:r>
            <a:endParaRPr/>
          </a:p>
          <a:p>
            <a:pPr indent="-311150" lvl="0" marL="457200" rtl="0" algn="l">
              <a:spcBef>
                <a:spcPts val="0"/>
              </a:spcBef>
              <a:spcAft>
                <a:spcPts val="0"/>
              </a:spcAft>
              <a:buSzPts val="1300"/>
              <a:buChar char="●"/>
            </a:pPr>
            <a:r>
              <a:rPr lang="id"/>
              <a:t>Type Parameter</a:t>
            </a:r>
            <a:endParaRPr/>
          </a:p>
          <a:p>
            <a:pPr indent="-311150" lvl="0" marL="457200" rtl="0" algn="l">
              <a:spcBef>
                <a:spcPts val="0"/>
              </a:spcBef>
              <a:spcAft>
                <a:spcPts val="0"/>
              </a:spcAft>
              <a:buSzPts val="1300"/>
              <a:buChar char="●"/>
            </a:pPr>
            <a:r>
              <a:rPr lang="id"/>
              <a:t>Any dan Comparable</a:t>
            </a:r>
            <a:endParaRPr/>
          </a:p>
          <a:p>
            <a:pPr indent="-311150" lvl="0" marL="457200" rtl="0" algn="l">
              <a:spcBef>
                <a:spcPts val="0"/>
              </a:spcBef>
              <a:spcAft>
                <a:spcPts val="0"/>
              </a:spcAft>
              <a:buSzPts val="1300"/>
              <a:buChar char="●"/>
            </a:pPr>
            <a:r>
              <a:rPr lang="id"/>
              <a:t>Type Sets</a:t>
            </a:r>
            <a:endParaRPr/>
          </a:p>
          <a:p>
            <a:pPr indent="-311150" lvl="0" marL="457200" rtl="0" algn="l">
              <a:spcBef>
                <a:spcPts val="0"/>
              </a:spcBef>
              <a:spcAft>
                <a:spcPts val="0"/>
              </a:spcAft>
              <a:buSzPts val="1300"/>
              <a:buChar char="●"/>
            </a:pPr>
            <a:r>
              <a:rPr lang="id"/>
              <a:t>Type Approximation</a:t>
            </a:r>
            <a:endParaRPr/>
          </a:p>
          <a:p>
            <a:pPr indent="-311150" lvl="0" marL="457200" rtl="0" algn="l">
              <a:spcBef>
                <a:spcPts val="0"/>
              </a:spcBef>
              <a:spcAft>
                <a:spcPts val="0"/>
              </a:spcAft>
              <a:buSzPts val="1300"/>
              <a:buChar char="●"/>
            </a:pPr>
            <a:r>
              <a:rPr lang="id"/>
              <a:t>Type Inference</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Generics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Generic</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Generic adalah kemampuan menambahkan parameter type saat membuat function</a:t>
            </a:r>
            <a:endParaRPr/>
          </a:p>
          <a:p>
            <a:pPr indent="-311150" lvl="0" marL="457200" rtl="0" algn="l">
              <a:spcBef>
                <a:spcPts val="0"/>
              </a:spcBef>
              <a:spcAft>
                <a:spcPts val="0"/>
              </a:spcAft>
              <a:buSzPts val="1300"/>
              <a:buChar char="●"/>
            </a:pPr>
            <a:r>
              <a:rPr lang="id"/>
              <a:t>Berbeda dengan tipe data yang biasa kita gunakan di function, generic memungkinkan kita bisa mengubah-ubah bentuk tipe data sesuai dengan yang kita mau.</a:t>
            </a:r>
            <a:endParaRPr/>
          </a:p>
          <a:p>
            <a:pPr indent="-311150" lvl="0" marL="457200" rtl="0" algn="l">
              <a:spcBef>
                <a:spcPts val="0"/>
              </a:spcBef>
              <a:spcAft>
                <a:spcPts val="0"/>
              </a:spcAft>
              <a:buSzPts val="1300"/>
              <a:buChar char="●"/>
            </a:pPr>
            <a:r>
              <a:rPr lang="id"/>
              <a:t>Fitur generics baru ada sejak Go-Lang versi 1.18</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Manfaat Generic</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Pengecekan ketika proses kompilasi</a:t>
            </a:r>
            <a:endParaRPr/>
          </a:p>
          <a:p>
            <a:pPr indent="-311150" lvl="0" marL="457200" rtl="0" algn="l">
              <a:spcBef>
                <a:spcPts val="0"/>
              </a:spcBef>
              <a:spcAft>
                <a:spcPts val="0"/>
              </a:spcAft>
              <a:buSzPts val="1300"/>
              <a:buChar char="●"/>
            </a:pPr>
            <a:r>
              <a:rPr lang="id"/>
              <a:t>Tidak perlu manual menggunakan pengecekan tipe data dan konversi tipe data</a:t>
            </a:r>
            <a:endParaRPr/>
          </a:p>
          <a:p>
            <a:pPr indent="-311150" lvl="0" marL="457200" rtl="0" algn="l">
              <a:spcBef>
                <a:spcPts val="0"/>
              </a:spcBef>
              <a:spcAft>
                <a:spcPts val="0"/>
              </a:spcAft>
              <a:buSzPts val="1300"/>
              <a:buChar char="●"/>
            </a:pPr>
            <a:r>
              <a:rPr lang="id"/>
              <a:t>Memudahkan programmer membuat kode program yang generic sehingga bisa digunakan oleh berbagai tipe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Contoh Kode Bukan Generic</a:t>
            </a:r>
            <a:endParaRPr/>
          </a:p>
        </p:txBody>
      </p:sp>
      <p:pic>
        <p:nvPicPr>
          <p:cNvPr id="212" name="Google Shape;212;p33"/>
          <p:cNvPicPr preferRelativeResize="0"/>
          <p:nvPr/>
        </p:nvPicPr>
        <p:blipFill>
          <a:blip r:embed="rId3">
            <a:alphaModFix/>
          </a:blip>
          <a:stretch>
            <a:fillRect/>
          </a:stretch>
        </p:blipFill>
        <p:spPr>
          <a:xfrm>
            <a:off x="152400" y="2006250"/>
            <a:ext cx="4351350" cy="2530475"/>
          </a:xfrm>
          <a:prstGeom prst="rect">
            <a:avLst/>
          </a:prstGeom>
          <a:noFill/>
          <a:ln>
            <a:noFill/>
          </a:ln>
        </p:spPr>
      </p:pic>
      <p:pic>
        <p:nvPicPr>
          <p:cNvPr id="213" name="Google Shape;213;p33"/>
          <p:cNvPicPr preferRelativeResize="0"/>
          <p:nvPr/>
        </p:nvPicPr>
        <p:blipFill>
          <a:blip r:embed="rId4">
            <a:alphaModFix/>
          </a:blip>
          <a:stretch>
            <a:fillRect/>
          </a:stretch>
        </p:blipFill>
        <p:spPr>
          <a:xfrm>
            <a:off x="4656150" y="2006250"/>
            <a:ext cx="4335450" cy="220159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Project</a:t>
            </a:r>
            <a:endParaRPr/>
          </a:p>
        </p:txBody>
      </p:sp>
      <p:sp>
        <p:nvSpPr>
          <p:cNvPr id="224" name="Google Shape;224;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go mod init ProgrammerZamanNow/belajar-golang-generics</a:t>
            </a:r>
            <a:endParaRPr/>
          </a:p>
          <a:p>
            <a:pPr indent="0" lvl="0" marL="0" rtl="0" algn="l">
              <a:spcBef>
                <a:spcPts val="1600"/>
              </a:spcBef>
              <a:spcAft>
                <a:spcPts val="1600"/>
              </a:spcAft>
              <a:buNone/>
            </a:pPr>
            <a:r>
              <a:rPr lang="id"/>
              <a:t>go get github.com/stretchr/testify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Parameter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Parameter</a:t>
            </a:r>
            <a:endParaRPr/>
          </a:p>
        </p:txBody>
      </p:sp>
      <p:sp>
        <p:nvSpPr>
          <p:cNvPr id="235" name="Google Shape;235;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Untuk menandai sebuah function merupakan tipe generic, kita perlu menambahkan Type Parameter pada function tersebut</a:t>
            </a:r>
            <a:endParaRPr/>
          </a:p>
          <a:p>
            <a:pPr indent="-311150" lvl="0" marL="457200" rtl="0" algn="l">
              <a:spcBef>
                <a:spcPts val="0"/>
              </a:spcBef>
              <a:spcAft>
                <a:spcPts val="0"/>
              </a:spcAft>
              <a:buSzPts val="1300"/>
              <a:buChar char="●"/>
            </a:pPr>
            <a:r>
              <a:rPr lang="id"/>
              <a:t>Pembuatan Type Parameter menggunakan tanda [] (kurung kotak), dimana di dalam kurung kotak tersebut, kita tentukan nama Type Parameter nya</a:t>
            </a:r>
            <a:endParaRPr/>
          </a:p>
          <a:p>
            <a:pPr indent="-311150" lvl="0" marL="457200" rtl="0" algn="l">
              <a:spcBef>
                <a:spcPts val="0"/>
              </a:spcBef>
              <a:spcAft>
                <a:spcPts val="0"/>
              </a:spcAft>
              <a:buSzPts val="1300"/>
              <a:buChar char="●"/>
            </a:pPr>
            <a:r>
              <a:rPr lang="id"/>
              <a:t>Hampir sama dengan di bahasa pemrograman lain seperti Java, C# dan lain-lain, biasanya nama Type Parameter hanya menggunakan satu huruf, misal T, K, V dan lain-lain. Walaupun bisa saja lebih dari satu huruf</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Parameter</a:t>
            </a:r>
            <a:endParaRPr/>
          </a:p>
        </p:txBody>
      </p:sp>
      <p:pic>
        <p:nvPicPr>
          <p:cNvPr id="241" name="Google Shape;241;p38"/>
          <p:cNvPicPr preferRelativeResize="0"/>
          <p:nvPr/>
        </p:nvPicPr>
        <p:blipFill>
          <a:blip r:embed="rId3">
            <a:alphaModFix/>
          </a:blip>
          <a:stretch>
            <a:fillRect/>
          </a:stretch>
        </p:blipFill>
        <p:spPr>
          <a:xfrm>
            <a:off x="152400" y="2006250"/>
            <a:ext cx="8801100" cy="209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Constraint</a:t>
            </a:r>
            <a:endParaRPr/>
          </a:p>
        </p:txBody>
      </p:sp>
      <p:sp>
        <p:nvSpPr>
          <p:cNvPr id="247" name="Google Shape;247;p3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bahasa pemrograman seperti Java, C# dan lain-lain, Type Parameter biasanya tidak perlu kita tentukan tipe datanya, berbeda dengan di Go-Lang.</a:t>
            </a:r>
            <a:endParaRPr/>
          </a:p>
          <a:p>
            <a:pPr indent="-311150" lvl="0" marL="457200" rtl="0" algn="l">
              <a:spcBef>
                <a:spcPts val="0"/>
              </a:spcBef>
              <a:spcAft>
                <a:spcPts val="0"/>
              </a:spcAft>
              <a:buSzPts val="1300"/>
              <a:buChar char="●"/>
            </a:pPr>
            <a:r>
              <a:rPr lang="id"/>
              <a:t>Dari pengalaman yang dilakukan para pengembang Go-Lang, akhirnya di Go-Lang, Type Parameter wajib memiliki constraint</a:t>
            </a:r>
            <a:endParaRPr/>
          </a:p>
          <a:p>
            <a:pPr indent="-311150" lvl="0" marL="457200" rtl="0" algn="l">
              <a:spcBef>
                <a:spcPts val="0"/>
              </a:spcBef>
              <a:spcAft>
                <a:spcPts val="0"/>
              </a:spcAft>
              <a:buSzPts val="1300"/>
              <a:buChar char="●"/>
            </a:pPr>
            <a:r>
              <a:rPr lang="id"/>
              <a:t>Type Constraint merupakan aturan yang digunakan untuk menentukan tipe data yang diperbolehkan pada Type Parameter</a:t>
            </a:r>
            <a:endParaRPr/>
          </a:p>
          <a:p>
            <a:pPr indent="-311150" lvl="0" marL="457200" rtl="0" algn="l">
              <a:spcBef>
                <a:spcPts val="0"/>
              </a:spcBef>
              <a:spcAft>
                <a:spcPts val="0"/>
              </a:spcAft>
              <a:buSzPts val="1300"/>
              <a:buChar char="●"/>
            </a:pPr>
            <a:r>
              <a:rPr lang="id"/>
              <a:t>Contoh, jika kita ingin Type Parameter bisa digunakan untuk semua tipe data, kita bisa gunakan interface{} (kosong) sebagai constraint nya</a:t>
            </a:r>
            <a:endParaRPr/>
          </a:p>
          <a:p>
            <a:pPr indent="-311150" lvl="0" marL="457200" rtl="0" algn="l">
              <a:spcBef>
                <a:spcPts val="0"/>
              </a:spcBef>
              <a:spcAft>
                <a:spcPts val="0"/>
              </a:spcAft>
              <a:buSzPts val="1300"/>
              <a:buChar char="●"/>
            </a:pPr>
            <a:r>
              <a:rPr lang="id"/>
              <a:t>Type Constraint yang lebih detail akan kita bahas di materi Type Sets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Constraint</a:t>
            </a:r>
            <a:endParaRPr/>
          </a:p>
        </p:txBody>
      </p:sp>
      <p:pic>
        <p:nvPicPr>
          <p:cNvPr id="253" name="Google Shape;253;p40"/>
          <p:cNvPicPr preferRelativeResize="0"/>
          <p:nvPr/>
        </p:nvPicPr>
        <p:blipFill>
          <a:blip r:embed="rId3">
            <a:alphaModFix/>
          </a:blip>
          <a:stretch>
            <a:fillRect/>
          </a:stretch>
        </p:blipFill>
        <p:spPr>
          <a:xfrm>
            <a:off x="152400" y="2006250"/>
            <a:ext cx="7067550" cy="1809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any</a:t>
            </a:r>
            <a:endParaRPr/>
          </a:p>
        </p:txBody>
      </p:sp>
      <p:sp>
        <p:nvSpPr>
          <p:cNvPr id="259" name="Google Shape;259;p4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Go-Lang 1.18, diperkenalkan alias baru bernama any untuk interface{} (kosong), ini bisa mempermudah kita ketika membuat Type Parameter dengan constraint interface{}, jadi kita cukup gunakan constraint any</a:t>
            </a:r>
            <a:endParaRPr/>
          </a:p>
        </p:txBody>
      </p:sp>
      <p:pic>
        <p:nvPicPr>
          <p:cNvPr id="260" name="Google Shape;260;p41"/>
          <p:cNvPicPr preferRelativeResize="0"/>
          <p:nvPr/>
        </p:nvPicPr>
        <p:blipFill>
          <a:blip r:embed="rId3">
            <a:alphaModFix/>
          </a:blip>
          <a:stretch>
            <a:fillRect/>
          </a:stretch>
        </p:blipFill>
        <p:spPr>
          <a:xfrm>
            <a:off x="152400" y="3230750"/>
            <a:ext cx="8064714" cy="1013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Tipe Data any</a:t>
            </a:r>
            <a:endParaRPr/>
          </a:p>
        </p:txBody>
      </p:sp>
      <p:pic>
        <p:nvPicPr>
          <p:cNvPr id="266" name="Google Shape;266;p42"/>
          <p:cNvPicPr preferRelativeResize="0"/>
          <p:nvPr/>
        </p:nvPicPr>
        <p:blipFill>
          <a:blip r:embed="rId3">
            <a:alphaModFix/>
          </a:blip>
          <a:stretch>
            <a:fillRect/>
          </a:stretch>
        </p:blipFill>
        <p:spPr>
          <a:xfrm>
            <a:off x="152400" y="2006250"/>
            <a:ext cx="8020050" cy="1885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Menggunakan Type Parameter</a:t>
            </a:r>
            <a:endParaRPr/>
          </a:p>
        </p:txBody>
      </p:sp>
      <p:sp>
        <p:nvSpPr>
          <p:cNvPr id="272" name="Google Shape;272;p4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Setelah kita buat Type Parameter di function, selanjutnya kita bisa menggunakan Type Parameter tersebut sebagai tipe data di dalam function tersebut</a:t>
            </a:r>
            <a:endParaRPr/>
          </a:p>
          <a:p>
            <a:pPr indent="-311150" lvl="0" marL="457200" rtl="0" algn="l">
              <a:spcBef>
                <a:spcPts val="0"/>
              </a:spcBef>
              <a:spcAft>
                <a:spcPts val="0"/>
              </a:spcAft>
              <a:buSzPts val="1300"/>
              <a:buChar char="●"/>
            </a:pPr>
            <a:r>
              <a:rPr lang="id"/>
              <a:t>Misal nya digunakan untuk return type atau function parameter</a:t>
            </a:r>
            <a:endParaRPr/>
          </a:p>
          <a:p>
            <a:pPr indent="-311150" lvl="0" marL="457200" rtl="0" algn="l">
              <a:spcBef>
                <a:spcPts val="0"/>
              </a:spcBef>
              <a:spcAft>
                <a:spcPts val="0"/>
              </a:spcAft>
              <a:buSzPts val="1300"/>
              <a:buChar char="●"/>
            </a:pPr>
            <a:r>
              <a:rPr lang="id"/>
              <a:t>Kita cukup gunakan nama Type Parameter nya saja</a:t>
            </a:r>
            <a:endParaRPr/>
          </a:p>
          <a:p>
            <a:pPr indent="-311150" lvl="0" marL="457200" rtl="0" algn="l">
              <a:spcBef>
                <a:spcPts val="0"/>
              </a:spcBef>
              <a:spcAft>
                <a:spcPts val="0"/>
              </a:spcAft>
              <a:buSzPts val="1300"/>
              <a:buChar char="●"/>
            </a:pPr>
            <a:r>
              <a:rPr lang="id"/>
              <a:t>Type Parameter hanya bisa digunakan di functionnya saja, tidak bisa digunakan di luar function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Menggunakan Type Parameter</a:t>
            </a:r>
            <a:endParaRPr/>
          </a:p>
        </p:txBody>
      </p:sp>
      <p:pic>
        <p:nvPicPr>
          <p:cNvPr id="278" name="Google Shape;278;p44"/>
          <p:cNvPicPr preferRelativeResize="0"/>
          <p:nvPr/>
        </p:nvPicPr>
        <p:blipFill>
          <a:blip r:embed="rId3">
            <a:alphaModFix/>
          </a:blip>
          <a:stretch>
            <a:fillRect/>
          </a:stretch>
        </p:blipFill>
        <p:spPr>
          <a:xfrm>
            <a:off x="152400" y="2006250"/>
            <a:ext cx="6835012" cy="29848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Type Parameter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Multiple Type Parameter</a:t>
            </a:r>
            <a:endParaRPr/>
          </a:p>
        </p:txBody>
      </p:sp>
      <p:sp>
        <p:nvSpPr>
          <p:cNvPr id="289" name="Google Shape;289;p4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Penggunakan Type Parameter bisa lebih dari satu, jika kita ingin menambahkan multiple Type Parameter, kita cukup gunakan tanda , (koma) sebagai pemisah antar Type Parameter</a:t>
            </a:r>
            <a:endParaRPr/>
          </a:p>
          <a:p>
            <a:pPr indent="-311150" lvl="0" marL="457200" rtl="0" algn="l">
              <a:spcBef>
                <a:spcPts val="0"/>
              </a:spcBef>
              <a:spcAft>
                <a:spcPts val="0"/>
              </a:spcAft>
              <a:buSzPts val="1300"/>
              <a:buChar char="●"/>
            </a:pPr>
            <a:r>
              <a:rPr lang="id"/>
              <a:t>Nama Type Parameter harus berbeda, tidak boleh sama jika kita menambah Type Parameter lebih dari satu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Multiple Type Parameter</a:t>
            </a:r>
            <a:endParaRPr/>
          </a:p>
        </p:txBody>
      </p:sp>
      <p:pic>
        <p:nvPicPr>
          <p:cNvPr id="295" name="Google Shape;295;p47"/>
          <p:cNvPicPr preferRelativeResize="0"/>
          <p:nvPr/>
        </p:nvPicPr>
        <p:blipFill>
          <a:blip r:embed="rId3">
            <a:alphaModFix/>
          </a:blip>
          <a:stretch>
            <a:fillRect/>
          </a:stretch>
        </p:blipFill>
        <p:spPr>
          <a:xfrm>
            <a:off x="152400" y="2006250"/>
            <a:ext cx="7474665" cy="2984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Comparable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Comparable</a:t>
            </a:r>
            <a:endParaRPr/>
          </a:p>
        </p:txBody>
      </p:sp>
      <p:sp>
        <p:nvSpPr>
          <p:cNvPr id="306" name="Google Shape;306;p4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any, di Go-Lang versi 1.18 juga terdapat tipe data bernama comparable</a:t>
            </a:r>
            <a:endParaRPr/>
          </a:p>
          <a:p>
            <a:pPr indent="-311150" lvl="0" marL="457200" rtl="0" algn="l">
              <a:spcBef>
                <a:spcPts val="0"/>
              </a:spcBef>
              <a:spcAft>
                <a:spcPts val="0"/>
              </a:spcAft>
              <a:buSzPts val="1300"/>
              <a:buChar char="●"/>
            </a:pPr>
            <a:r>
              <a:rPr lang="id"/>
              <a:t>comparable merupakan interface yang diimplementasikan oleh tipe data yang bisa dibandingkan (menggunakan operator != dan ==), seperti booleans, numbers, strings, pointers, channels, interfaces, array yang isinya ada comparable type, atau structs yang fields nya adalah comparable type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Comparable</a:t>
            </a:r>
            <a:endParaRPr/>
          </a:p>
        </p:txBody>
      </p:sp>
      <p:pic>
        <p:nvPicPr>
          <p:cNvPr id="312" name="Google Shape;312;p50"/>
          <p:cNvPicPr preferRelativeResize="0"/>
          <p:nvPr/>
        </p:nvPicPr>
        <p:blipFill>
          <a:blip r:embed="rId3">
            <a:alphaModFix/>
          </a:blip>
          <a:stretch>
            <a:fillRect/>
          </a:stretch>
        </p:blipFill>
        <p:spPr>
          <a:xfrm>
            <a:off x="152400" y="2006250"/>
            <a:ext cx="6871874" cy="29848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Parameter Inheritance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Parameter Inheritance</a:t>
            </a:r>
            <a:endParaRPr/>
          </a:p>
        </p:txBody>
      </p:sp>
      <p:sp>
        <p:nvSpPr>
          <p:cNvPr id="323" name="Google Shape;323;p5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Go-Lang sendiri sebenarnya tidak memiliki pewarisan, namun seperti kita ketahui, jika kita membuat sebuah type yang sesuai dengan kontrak interface, maka dianggap sebagai implementasi interface tersebut</a:t>
            </a:r>
            <a:endParaRPr/>
          </a:p>
          <a:p>
            <a:pPr indent="-311150" lvl="0" marL="457200" rtl="0" algn="l">
              <a:spcBef>
                <a:spcPts val="0"/>
              </a:spcBef>
              <a:spcAft>
                <a:spcPts val="0"/>
              </a:spcAft>
              <a:buSzPts val="1300"/>
              <a:buChar char="●"/>
            </a:pPr>
            <a:r>
              <a:rPr lang="id"/>
              <a:t>Type Parameter juga mendukung hal serupa, kita bisa gunakan constraint dengan menggunakan interface, maka secara otomatis semua interface yang compatible dengan type constraint tersebut bisa kita gunakan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 Type Interface</a:t>
            </a:r>
            <a:endParaRPr/>
          </a:p>
        </p:txBody>
      </p:sp>
      <p:pic>
        <p:nvPicPr>
          <p:cNvPr id="329" name="Google Shape;329;p53"/>
          <p:cNvPicPr preferRelativeResize="0"/>
          <p:nvPr/>
        </p:nvPicPr>
        <p:blipFill>
          <a:blip r:embed="rId3">
            <a:alphaModFix/>
          </a:blip>
          <a:stretch>
            <a:fillRect/>
          </a:stretch>
        </p:blipFill>
        <p:spPr>
          <a:xfrm>
            <a:off x="1481513" y="2006250"/>
            <a:ext cx="6180966" cy="29848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Employee Interface</a:t>
            </a:r>
            <a:endParaRPr/>
          </a:p>
        </p:txBody>
      </p:sp>
      <p:pic>
        <p:nvPicPr>
          <p:cNvPr id="335" name="Google Shape;335;p54"/>
          <p:cNvPicPr preferRelativeResize="0"/>
          <p:nvPr/>
        </p:nvPicPr>
        <p:blipFill>
          <a:blip r:embed="rId3">
            <a:alphaModFix/>
          </a:blip>
          <a:stretch>
            <a:fillRect/>
          </a:stretch>
        </p:blipFill>
        <p:spPr>
          <a:xfrm>
            <a:off x="152400" y="2006250"/>
            <a:ext cx="7938088" cy="2984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Manager Interface</a:t>
            </a:r>
            <a:endParaRPr/>
          </a:p>
        </p:txBody>
      </p:sp>
      <p:pic>
        <p:nvPicPr>
          <p:cNvPr id="341" name="Google Shape;341;p55"/>
          <p:cNvPicPr preferRelativeResize="0"/>
          <p:nvPr/>
        </p:nvPicPr>
        <p:blipFill>
          <a:blip r:embed="rId3">
            <a:alphaModFix/>
          </a:blip>
          <a:stretch>
            <a:fillRect/>
          </a:stretch>
        </p:blipFill>
        <p:spPr>
          <a:xfrm>
            <a:off x="152400" y="2006250"/>
            <a:ext cx="3670366" cy="2984850"/>
          </a:xfrm>
          <a:prstGeom prst="rect">
            <a:avLst/>
          </a:prstGeom>
          <a:noFill/>
          <a:ln>
            <a:noFill/>
          </a:ln>
        </p:spPr>
      </p:pic>
      <p:pic>
        <p:nvPicPr>
          <p:cNvPr id="342" name="Google Shape;342;p55"/>
          <p:cNvPicPr preferRelativeResize="0"/>
          <p:nvPr/>
        </p:nvPicPr>
        <p:blipFill>
          <a:blip r:embed="rId4">
            <a:alphaModFix/>
          </a:blip>
          <a:stretch>
            <a:fillRect/>
          </a:stretch>
        </p:blipFill>
        <p:spPr>
          <a:xfrm>
            <a:off x="3975166" y="2006250"/>
            <a:ext cx="5016434" cy="226904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Vice President Interface</a:t>
            </a:r>
            <a:endParaRPr/>
          </a:p>
        </p:txBody>
      </p:sp>
      <p:pic>
        <p:nvPicPr>
          <p:cNvPr id="348" name="Google Shape;348;p56"/>
          <p:cNvPicPr preferRelativeResize="0"/>
          <p:nvPr/>
        </p:nvPicPr>
        <p:blipFill>
          <a:blip r:embed="rId3">
            <a:alphaModFix/>
          </a:blip>
          <a:stretch>
            <a:fillRect/>
          </a:stretch>
        </p:blipFill>
        <p:spPr>
          <a:xfrm>
            <a:off x="152400" y="2006250"/>
            <a:ext cx="3629400" cy="2498150"/>
          </a:xfrm>
          <a:prstGeom prst="rect">
            <a:avLst/>
          </a:prstGeom>
          <a:noFill/>
          <a:ln>
            <a:noFill/>
          </a:ln>
        </p:spPr>
      </p:pic>
      <p:pic>
        <p:nvPicPr>
          <p:cNvPr id="349" name="Google Shape;349;p56"/>
          <p:cNvPicPr preferRelativeResize="0"/>
          <p:nvPr/>
        </p:nvPicPr>
        <p:blipFill>
          <a:blip r:embed="rId4">
            <a:alphaModFix/>
          </a:blip>
          <a:stretch>
            <a:fillRect/>
          </a:stretch>
        </p:blipFill>
        <p:spPr>
          <a:xfrm>
            <a:off x="3958075" y="2006250"/>
            <a:ext cx="4999500" cy="1782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Parameter Inheritance</a:t>
            </a:r>
            <a:endParaRPr/>
          </a:p>
        </p:txBody>
      </p:sp>
      <p:pic>
        <p:nvPicPr>
          <p:cNvPr id="355" name="Google Shape;355;p57"/>
          <p:cNvPicPr preferRelativeResize="0"/>
          <p:nvPr/>
        </p:nvPicPr>
        <p:blipFill>
          <a:blip r:embed="rId3">
            <a:alphaModFix/>
          </a:blip>
          <a:stretch>
            <a:fillRect/>
          </a:stretch>
        </p:blipFill>
        <p:spPr>
          <a:xfrm>
            <a:off x="152400" y="2006250"/>
            <a:ext cx="8839201" cy="19183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Sets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Sets</a:t>
            </a:r>
            <a:endParaRPr/>
          </a:p>
        </p:txBody>
      </p:sp>
      <p:sp>
        <p:nvSpPr>
          <p:cNvPr id="366" name="Google Shape;366;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fitur yang menarik di Go-Lang Generic adalah Type Sets</a:t>
            </a:r>
            <a:endParaRPr/>
          </a:p>
          <a:p>
            <a:pPr indent="-311150" lvl="0" marL="457200" rtl="0" algn="l">
              <a:spcBef>
                <a:spcPts val="0"/>
              </a:spcBef>
              <a:spcAft>
                <a:spcPts val="0"/>
              </a:spcAft>
              <a:buSzPts val="1300"/>
              <a:buChar char="●"/>
            </a:pPr>
            <a:r>
              <a:rPr lang="id"/>
              <a:t>Dengan fitur ini, kita bisa menentukan lebih dari satu tipe constraint yang diperbolehkan pada type parameter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Membuat Type Set</a:t>
            </a:r>
            <a:endParaRPr/>
          </a:p>
        </p:txBody>
      </p:sp>
      <p:sp>
        <p:nvSpPr>
          <p:cNvPr id="372" name="Google Shape;372;p6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Type Set adalah sebuah interface</a:t>
            </a:r>
            <a:endParaRPr/>
          </a:p>
          <a:p>
            <a:pPr indent="-311150" lvl="0" marL="457200" rtl="0" algn="l">
              <a:spcBef>
                <a:spcPts val="0"/>
              </a:spcBef>
              <a:spcAft>
                <a:spcPts val="0"/>
              </a:spcAft>
              <a:buSzPts val="1300"/>
              <a:buChar char="●"/>
            </a:pPr>
            <a:r>
              <a:rPr lang="id"/>
              <a:t>Cara membuat Type Set :</a:t>
            </a:r>
            <a:endParaRPr/>
          </a:p>
          <a:p>
            <a:pPr indent="0" lvl="0" marL="0" rtl="0" algn="l">
              <a:spcBef>
                <a:spcPts val="1600"/>
              </a:spcBef>
              <a:spcAft>
                <a:spcPts val="0"/>
              </a:spcAft>
              <a:buNone/>
            </a:pPr>
            <a:r>
              <a:rPr lang="id"/>
              <a:t>type NamaTypeSet </a:t>
            </a:r>
            <a:r>
              <a:rPr lang="id"/>
              <a:t>interface</a:t>
            </a:r>
            <a:r>
              <a:rPr lang="id"/>
              <a:t> {</a:t>
            </a:r>
            <a:br>
              <a:rPr lang="id"/>
            </a:br>
            <a:r>
              <a:rPr lang="id"/>
              <a:t>     P | Q | R</a:t>
            </a:r>
            <a:br>
              <a:rPr lang="id"/>
            </a:br>
            <a:r>
              <a:rPr lang="id"/>
              <a:t>}</a:t>
            </a:r>
            <a:endParaRPr/>
          </a:p>
          <a:p>
            <a:pPr indent="-311150" lvl="0" marL="457200" rtl="0" algn="l">
              <a:spcBef>
                <a:spcPts val="1600"/>
              </a:spcBef>
              <a:spcAft>
                <a:spcPts val="0"/>
              </a:spcAft>
              <a:buSzPts val="1300"/>
              <a:buChar char="●"/>
            </a:pPr>
            <a:r>
              <a:rPr lang="id"/>
              <a:t>TypeSet hanya bisa digunakan pada type parameter, tidak bisa digunakan sebagai tipe data field atau variable</a:t>
            </a:r>
            <a:endParaRPr/>
          </a:p>
          <a:p>
            <a:pPr indent="-311150" lvl="0" marL="457200" rtl="0" algn="l">
              <a:spcBef>
                <a:spcPts val="0"/>
              </a:spcBef>
              <a:spcAft>
                <a:spcPts val="0"/>
              </a:spcAft>
              <a:buSzPts val="1300"/>
              <a:buChar char="●"/>
            </a:pPr>
            <a:r>
              <a:rPr lang="id"/>
              <a:t>Jika operator bisa digunakan di semua tipe data di dalam type set, maka operator tersebut bisa digunakan dalam kode generic</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Diagram Type Set</a:t>
            </a:r>
            <a:endParaRPr/>
          </a:p>
        </p:txBody>
      </p:sp>
      <p:pic>
        <p:nvPicPr>
          <p:cNvPr id="378" name="Google Shape;378;p61"/>
          <p:cNvPicPr preferRelativeResize="0"/>
          <p:nvPr/>
        </p:nvPicPr>
        <p:blipFill>
          <a:blip r:embed="rId3">
            <a:alphaModFix/>
          </a:blip>
          <a:stretch>
            <a:fillRect/>
          </a:stretch>
        </p:blipFill>
        <p:spPr>
          <a:xfrm>
            <a:off x="956450" y="2006250"/>
            <a:ext cx="7231112" cy="2984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Set Interface</a:t>
            </a:r>
            <a:endParaRPr/>
          </a:p>
        </p:txBody>
      </p:sp>
      <p:pic>
        <p:nvPicPr>
          <p:cNvPr id="384" name="Google Shape;384;p62"/>
          <p:cNvPicPr preferRelativeResize="0"/>
          <p:nvPr/>
        </p:nvPicPr>
        <p:blipFill>
          <a:blip r:embed="rId3">
            <a:alphaModFix/>
          </a:blip>
          <a:stretch>
            <a:fillRect/>
          </a:stretch>
        </p:blipFill>
        <p:spPr>
          <a:xfrm>
            <a:off x="152400" y="2006250"/>
            <a:ext cx="7068813" cy="2984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Unit Test Type Set</a:t>
            </a:r>
            <a:endParaRPr/>
          </a:p>
        </p:txBody>
      </p:sp>
      <p:pic>
        <p:nvPicPr>
          <p:cNvPr id="390" name="Google Shape;390;p63"/>
          <p:cNvPicPr preferRelativeResize="0"/>
          <p:nvPr/>
        </p:nvPicPr>
        <p:blipFill>
          <a:blip r:embed="rId3">
            <a:alphaModFix/>
          </a:blip>
          <a:stretch>
            <a:fillRect/>
          </a:stretch>
        </p:blipFill>
        <p:spPr>
          <a:xfrm>
            <a:off x="152400" y="2006250"/>
            <a:ext cx="8839202" cy="231041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a:t>
            </a:r>
            <a:r>
              <a:rPr lang="id"/>
              <a:t>ype Approximation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Declaration</a:t>
            </a:r>
            <a:endParaRPr/>
          </a:p>
        </p:txBody>
      </p:sp>
      <p:sp>
        <p:nvSpPr>
          <p:cNvPr id="401" name="Google Shape;401;p6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sering membuat Type Declaration di Golang untuk tipe data lain, misal kita membuat tipe data Age untuk tipe data int</a:t>
            </a:r>
            <a:endParaRPr/>
          </a:p>
          <a:p>
            <a:pPr indent="-311150" lvl="0" marL="457200" rtl="0" algn="l">
              <a:spcBef>
                <a:spcPts val="0"/>
              </a:spcBef>
              <a:spcAft>
                <a:spcPts val="0"/>
              </a:spcAft>
              <a:buSzPts val="1300"/>
              <a:buChar char="●"/>
            </a:pPr>
            <a:r>
              <a:rPr lang="id"/>
              <a:t>Secara default, jika kita gunakan Age sebagai type declaration untuk int, lalu kita membuat Type Set yang berisi constraint int, maka tipe data Age dianggap tidak compatible dengan Type Set yang kita buat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Declaration</a:t>
            </a:r>
            <a:endParaRPr/>
          </a:p>
        </p:txBody>
      </p:sp>
      <p:pic>
        <p:nvPicPr>
          <p:cNvPr id="407" name="Google Shape;407;p66"/>
          <p:cNvPicPr preferRelativeResize="0"/>
          <p:nvPr/>
        </p:nvPicPr>
        <p:blipFill>
          <a:blip r:embed="rId3">
            <a:alphaModFix/>
          </a:blip>
          <a:stretch>
            <a:fillRect/>
          </a:stretch>
        </p:blipFill>
        <p:spPr>
          <a:xfrm>
            <a:off x="152400" y="2006250"/>
            <a:ext cx="6843315" cy="2984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Type Declaration</a:t>
            </a:r>
            <a:endParaRPr/>
          </a:p>
        </p:txBody>
      </p:sp>
      <p:pic>
        <p:nvPicPr>
          <p:cNvPr id="413" name="Google Shape;413;p67"/>
          <p:cNvPicPr preferRelativeResize="0"/>
          <p:nvPr/>
        </p:nvPicPr>
        <p:blipFill>
          <a:blip r:embed="rId3">
            <a:alphaModFix/>
          </a:blip>
          <a:stretch>
            <a:fillRect/>
          </a:stretch>
        </p:blipFill>
        <p:spPr>
          <a:xfrm>
            <a:off x="152400" y="2006250"/>
            <a:ext cx="8839202" cy="230524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Approximation</a:t>
            </a:r>
            <a:endParaRPr/>
          </a:p>
        </p:txBody>
      </p:sp>
      <p:sp>
        <p:nvSpPr>
          <p:cNvPr id="419" name="Google Shape;419;p6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Untungnya, Go-Lang memiliki feature bernama Type Approximation, dimana kita bisa menyebutkan bahwa semua constraint dengan tipe tersebut dan juga yang memiliki tipe dasarnya adalah tipe tersebut, maka bisa digunakan</a:t>
            </a:r>
            <a:endParaRPr/>
          </a:p>
          <a:p>
            <a:pPr indent="-311150" lvl="0" marL="457200" rtl="0" algn="l">
              <a:spcBef>
                <a:spcPts val="0"/>
              </a:spcBef>
              <a:spcAft>
                <a:spcPts val="0"/>
              </a:spcAft>
              <a:buSzPts val="1300"/>
              <a:buChar char="●"/>
            </a:pPr>
            <a:r>
              <a:rPr lang="id"/>
              <a:t>Untuk menggunakan Type Approximation, kita bisa gunakan tanda ~ (tilde)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a:t>
            </a:r>
            <a:r>
              <a:rPr lang="id"/>
              <a:t>Approximation</a:t>
            </a:r>
            <a:endParaRPr/>
          </a:p>
        </p:txBody>
      </p:sp>
      <p:pic>
        <p:nvPicPr>
          <p:cNvPr id="425" name="Google Shape;425;p69"/>
          <p:cNvPicPr preferRelativeResize="0"/>
          <p:nvPr/>
        </p:nvPicPr>
        <p:blipFill>
          <a:blip r:embed="rId3">
            <a:alphaModFix/>
          </a:blip>
          <a:stretch>
            <a:fillRect/>
          </a:stretch>
        </p:blipFill>
        <p:spPr>
          <a:xfrm>
            <a:off x="152400" y="2006250"/>
            <a:ext cx="8839199" cy="252994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7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Inference</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Type Inference</a:t>
            </a:r>
            <a:endParaRPr/>
          </a:p>
        </p:txBody>
      </p:sp>
      <p:sp>
        <p:nvSpPr>
          <p:cNvPr id="436" name="Google Shape;436;p7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Type Inference merupakan fitur dimana kita tidak perlu menyebutkan Type Parameter ketika memanggil kode generic</a:t>
            </a:r>
            <a:endParaRPr/>
          </a:p>
          <a:p>
            <a:pPr indent="-311150" lvl="0" marL="457200" rtl="0" algn="l">
              <a:spcBef>
                <a:spcPts val="0"/>
              </a:spcBef>
              <a:spcAft>
                <a:spcPts val="0"/>
              </a:spcAft>
              <a:buSzPts val="1300"/>
              <a:buChar char="●"/>
            </a:pPr>
            <a:r>
              <a:rPr lang="id"/>
              <a:t>Tipe data Type Parameter bisa dibaca secara otomatis misal dari parameter yang kita kirim</a:t>
            </a:r>
            <a:endParaRPr/>
          </a:p>
          <a:p>
            <a:pPr indent="-311150" lvl="0" marL="457200" rtl="0" algn="l">
              <a:spcBef>
                <a:spcPts val="0"/>
              </a:spcBef>
              <a:spcAft>
                <a:spcPts val="0"/>
              </a:spcAft>
              <a:buSzPts val="1300"/>
              <a:buChar char="●"/>
            </a:pPr>
            <a:r>
              <a:rPr lang="id"/>
              <a:t>Namun perlu diingat, pada beberapa kasus, jika terjadi error karena Type Inference, kita bisa dengan mudah memperbaikinya dengan cara menyebutkan Type Parameter nya saja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Type Inference</a:t>
            </a:r>
            <a:endParaRPr/>
          </a:p>
        </p:txBody>
      </p:sp>
      <p:pic>
        <p:nvPicPr>
          <p:cNvPr id="442" name="Google Shape;442;p72"/>
          <p:cNvPicPr preferRelativeResize="0"/>
          <p:nvPr/>
        </p:nvPicPr>
        <p:blipFill>
          <a:blip r:embed="rId3">
            <a:alphaModFix/>
          </a:blip>
          <a:stretch>
            <a:fillRect/>
          </a:stretch>
        </p:blipFill>
        <p:spPr>
          <a:xfrm>
            <a:off x="152400" y="2006250"/>
            <a:ext cx="7216419" cy="298484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Type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Type</a:t>
            </a:r>
            <a:endParaRPr/>
          </a:p>
        </p:txBody>
      </p:sp>
      <p:sp>
        <p:nvSpPr>
          <p:cNvPr id="453" name="Google Shape;453;p7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Sebelumnya kita sudah bahas tentang generic di function</a:t>
            </a:r>
            <a:endParaRPr/>
          </a:p>
          <a:p>
            <a:pPr indent="-311150" lvl="0" marL="457200" rtl="0" algn="l">
              <a:spcBef>
                <a:spcPts val="0"/>
              </a:spcBef>
              <a:spcAft>
                <a:spcPts val="0"/>
              </a:spcAft>
              <a:buSzPts val="1300"/>
              <a:buChar char="●"/>
            </a:pPr>
            <a:r>
              <a:rPr lang="id"/>
              <a:t>Generic juga bisa digunakan ketika membuat type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Generic Type</a:t>
            </a:r>
            <a:endParaRPr/>
          </a:p>
        </p:txBody>
      </p:sp>
      <p:pic>
        <p:nvPicPr>
          <p:cNvPr id="459" name="Google Shape;459;p75"/>
          <p:cNvPicPr preferRelativeResize="0"/>
          <p:nvPr/>
        </p:nvPicPr>
        <p:blipFill>
          <a:blip r:embed="rId3">
            <a:alphaModFix/>
          </a:blip>
          <a:stretch>
            <a:fillRect/>
          </a:stretch>
        </p:blipFill>
        <p:spPr>
          <a:xfrm>
            <a:off x="152400" y="2006250"/>
            <a:ext cx="3732650" cy="2170425"/>
          </a:xfrm>
          <a:prstGeom prst="rect">
            <a:avLst/>
          </a:prstGeom>
          <a:noFill/>
          <a:ln>
            <a:noFill/>
          </a:ln>
        </p:spPr>
      </p:pic>
      <p:pic>
        <p:nvPicPr>
          <p:cNvPr id="460" name="Google Shape;460;p75"/>
          <p:cNvPicPr preferRelativeResize="0"/>
          <p:nvPr/>
        </p:nvPicPr>
        <p:blipFill>
          <a:blip r:embed="rId4">
            <a:alphaModFix/>
          </a:blip>
          <a:stretch>
            <a:fillRect/>
          </a:stretch>
        </p:blipFill>
        <p:spPr>
          <a:xfrm>
            <a:off x="4037450" y="2006250"/>
            <a:ext cx="4954149" cy="244282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Struct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Struct</a:t>
            </a:r>
            <a:endParaRPr/>
          </a:p>
        </p:txBody>
      </p:sp>
      <p:sp>
        <p:nvSpPr>
          <p:cNvPr id="471" name="Google Shape;471;p7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Struct juga mendukung generic</a:t>
            </a:r>
            <a:endParaRPr/>
          </a:p>
          <a:p>
            <a:pPr indent="-311150" lvl="0" marL="457200" rtl="0" algn="l">
              <a:spcBef>
                <a:spcPts val="0"/>
              </a:spcBef>
              <a:spcAft>
                <a:spcPts val="0"/>
              </a:spcAft>
              <a:buSzPts val="1300"/>
              <a:buChar char="●"/>
            </a:pPr>
            <a:r>
              <a:rPr lang="id"/>
              <a:t>Dengan menggunakan generic, kita bisa membuat Field dengan tipe data yang sesuai dengan Type Parameter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Generic Struct</a:t>
            </a:r>
            <a:endParaRPr/>
          </a:p>
        </p:txBody>
      </p:sp>
      <p:pic>
        <p:nvPicPr>
          <p:cNvPr id="477" name="Google Shape;477;p78"/>
          <p:cNvPicPr preferRelativeResize="0"/>
          <p:nvPr/>
        </p:nvPicPr>
        <p:blipFill>
          <a:blip r:embed="rId3">
            <a:alphaModFix/>
          </a:blip>
          <a:stretch>
            <a:fillRect/>
          </a:stretch>
        </p:blipFill>
        <p:spPr>
          <a:xfrm>
            <a:off x="152400" y="2006250"/>
            <a:ext cx="3422876" cy="1618350"/>
          </a:xfrm>
          <a:prstGeom prst="rect">
            <a:avLst/>
          </a:prstGeom>
          <a:noFill/>
          <a:ln>
            <a:noFill/>
          </a:ln>
        </p:spPr>
      </p:pic>
      <p:pic>
        <p:nvPicPr>
          <p:cNvPr id="478" name="Google Shape;478;p78"/>
          <p:cNvPicPr preferRelativeResize="0"/>
          <p:nvPr/>
        </p:nvPicPr>
        <p:blipFill>
          <a:blip r:embed="rId4">
            <a:alphaModFix/>
          </a:blip>
          <a:stretch>
            <a:fillRect/>
          </a:stretch>
        </p:blipFill>
        <p:spPr>
          <a:xfrm>
            <a:off x="3727676" y="2006250"/>
            <a:ext cx="4589608" cy="2984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Method</a:t>
            </a:r>
            <a:endParaRPr/>
          </a:p>
        </p:txBody>
      </p:sp>
      <p:sp>
        <p:nvSpPr>
          <p:cNvPr id="484" name="Google Shape;484;p7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Selain di function, kita juga bisa tambahkan generic di method (function di struct)</a:t>
            </a:r>
            <a:endParaRPr/>
          </a:p>
          <a:p>
            <a:pPr indent="-311150" lvl="0" marL="457200" rtl="0" algn="l">
              <a:spcBef>
                <a:spcPts val="0"/>
              </a:spcBef>
              <a:spcAft>
                <a:spcPts val="0"/>
              </a:spcAft>
              <a:buSzPts val="1300"/>
              <a:buChar char="●"/>
            </a:pPr>
            <a:r>
              <a:rPr lang="id"/>
              <a:t>Namun, generic di method merupakan generic yang terdapat di struct nya. </a:t>
            </a:r>
            <a:endParaRPr/>
          </a:p>
          <a:p>
            <a:pPr indent="-311150" lvl="0" marL="457200" rtl="0" algn="l">
              <a:spcBef>
                <a:spcPts val="0"/>
              </a:spcBef>
              <a:spcAft>
                <a:spcPts val="0"/>
              </a:spcAft>
              <a:buSzPts val="1300"/>
              <a:buChar char="●"/>
            </a:pPr>
            <a:r>
              <a:rPr lang="id"/>
              <a:t>Kita wajib menyebutkan semua type parameter yang terdapat di struct, walaupun tidak kita gunakan misalnya, atau jika tidak ingin kita gunakan, kita bisa gunakan _ (garis bawah) sebagai pengganti type parameter nya</a:t>
            </a:r>
            <a:endParaRPr/>
          </a:p>
          <a:p>
            <a:pPr indent="-311150" lvl="0" marL="457200" rtl="0" algn="l">
              <a:spcBef>
                <a:spcPts val="0"/>
              </a:spcBef>
              <a:spcAft>
                <a:spcPts val="0"/>
              </a:spcAft>
              <a:buSzPts val="1300"/>
              <a:buChar char="●"/>
            </a:pPr>
            <a:r>
              <a:rPr lang="id"/>
              <a:t>Method tidak bisa memiliki type parameter yang mirip dengan di function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Generic Method</a:t>
            </a:r>
            <a:endParaRPr/>
          </a:p>
        </p:txBody>
      </p:sp>
      <p:pic>
        <p:nvPicPr>
          <p:cNvPr id="490" name="Google Shape;490;p80"/>
          <p:cNvPicPr preferRelativeResize="0"/>
          <p:nvPr/>
        </p:nvPicPr>
        <p:blipFill>
          <a:blip r:embed="rId3">
            <a:alphaModFix/>
          </a:blip>
          <a:stretch>
            <a:fillRect/>
          </a:stretch>
        </p:blipFill>
        <p:spPr>
          <a:xfrm>
            <a:off x="152400" y="2006250"/>
            <a:ext cx="6342806"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Generic Method</a:t>
            </a:r>
            <a:endParaRPr/>
          </a:p>
        </p:txBody>
      </p:sp>
      <p:pic>
        <p:nvPicPr>
          <p:cNvPr id="496" name="Google Shape;496;p81"/>
          <p:cNvPicPr preferRelativeResize="0"/>
          <p:nvPr/>
        </p:nvPicPr>
        <p:blipFill>
          <a:blip r:embed="rId3">
            <a:alphaModFix/>
          </a:blip>
          <a:stretch>
            <a:fillRect/>
          </a:stretch>
        </p:blipFill>
        <p:spPr>
          <a:xfrm>
            <a:off x="152400" y="2006250"/>
            <a:ext cx="6465111" cy="2984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Interface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Interface</a:t>
            </a:r>
            <a:endParaRPr/>
          </a:p>
        </p:txBody>
      </p:sp>
      <p:sp>
        <p:nvSpPr>
          <p:cNvPr id="507" name="Google Shape;507;p8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Generic juga bisa kita gunakan di Interface</a:t>
            </a:r>
            <a:endParaRPr/>
          </a:p>
          <a:p>
            <a:pPr indent="-311150" lvl="0" marL="457200" rtl="0" algn="l">
              <a:spcBef>
                <a:spcPts val="0"/>
              </a:spcBef>
              <a:spcAft>
                <a:spcPts val="0"/>
              </a:spcAft>
              <a:buSzPts val="1300"/>
              <a:buChar char="●"/>
            </a:pPr>
            <a:r>
              <a:rPr lang="id"/>
              <a:t>Secara otomatis, semua struct yang ingin mengikuti kontrak interface tersebut harus menggunakan generic juga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Generic Interface</a:t>
            </a:r>
            <a:endParaRPr/>
          </a:p>
        </p:txBody>
      </p:sp>
      <p:pic>
        <p:nvPicPr>
          <p:cNvPr id="513" name="Google Shape;513;p84"/>
          <p:cNvPicPr preferRelativeResize="0"/>
          <p:nvPr/>
        </p:nvPicPr>
        <p:blipFill>
          <a:blip r:embed="rId3">
            <a:alphaModFix/>
          </a:blip>
          <a:stretch>
            <a:fillRect/>
          </a:stretch>
        </p:blipFill>
        <p:spPr>
          <a:xfrm>
            <a:off x="152400" y="2006250"/>
            <a:ext cx="7968032" cy="29848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Implementasi Struct</a:t>
            </a:r>
            <a:endParaRPr/>
          </a:p>
        </p:txBody>
      </p:sp>
      <p:pic>
        <p:nvPicPr>
          <p:cNvPr id="519" name="Google Shape;519;p85"/>
          <p:cNvPicPr preferRelativeResize="0"/>
          <p:nvPr/>
        </p:nvPicPr>
        <p:blipFill>
          <a:blip r:embed="rId3">
            <a:alphaModFix/>
          </a:blip>
          <a:stretch>
            <a:fillRect/>
          </a:stretch>
        </p:blipFill>
        <p:spPr>
          <a:xfrm>
            <a:off x="152400" y="2006250"/>
            <a:ext cx="7288098" cy="298485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Test Generic Interface</a:t>
            </a:r>
            <a:endParaRPr/>
          </a:p>
        </p:txBody>
      </p:sp>
      <p:pic>
        <p:nvPicPr>
          <p:cNvPr id="525" name="Google Shape;525;p86"/>
          <p:cNvPicPr preferRelativeResize="0"/>
          <p:nvPr/>
        </p:nvPicPr>
        <p:blipFill>
          <a:blip r:embed="rId3">
            <a:alphaModFix/>
          </a:blip>
          <a:stretch>
            <a:fillRect/>
          </a:stretch>
        </p:blipFill>
        <p:spPr>
          <a:xfrm>
            <a:off x="152400" y="2006250"/>
            <a:ext cx="8839199" cy="242727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8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 Line Type Constraint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8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 Line Type Constraint</a:t>
            </a:r>
            <a:endParaRPr/>
          </a:p>
        </p:txBody>
      </p:sp>
      <p:sp>
        <p:nvSpPr>
          <p:cNvPr id="536" name="Google Shape;536;p8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Sebelum-sebelumnya, kita selalu menggunakan type declaration atau type set ketika membuat type constraint di type parameter</a:t>
            </a:r>
            <a:endParaRPr/>
          </a:p>
          <a:p>
            <a:pPr indent="-311150" lvl="0" marL="457200" rtl="0" algn="l">
              <a:spcBef>
                <a:spcPts val="0"/>
              </a:spcBef>
              <a:spcAft>
                <a:spcPts val="0"/>
              </a:spcAft>
              <a:buSzPts val="1300"/>
              <a:buChar char="●"/>
            </a:pPr>
            <a:r>
              <a:rPr lang="id"/>
              <a:t>Sebenarnya tidak ada kewajiban kita harus membuat type declaration atau type set jika kita ingin membuat type parameter, kita bisa gunakan secara langsung (in line) pada type constraint, misalnya di awal kita sudah bahas tentang interface {} (kosong), tapi kita selalu gunakan type declaration any</a:t>
            </a:r>
            <a:endParaRPr/>
          </a:p>
          <a:p>
            <a:pPr indent="-311150" lvl="0" marL="457200" rtl="0" algn="l">
              <a:spcBef>
                <a:spcPts val="0"/>
              </a:spcBef>
              <a:spcAft>
                <a:spcPts val="0"/>
              </a:spcAft>
              <a:buSzPts val="1300"/>
              <a:buChar char="●"/>
            </a:pPr>
            <a:r>
              <a:rPr lang="id"/>
              <a:t>Jika kita mau, kita juga bisa langsung gunakan interface { int | float32 | float64} dibanding membuat type set Number misalnya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 Line Type Constraint</a:t>
            </a:r>
            <a:endParaRPr/>
          </a:p>
        </p:txBody>
      </p:sp>
      <p:pic>
        <p:nvPicPr>
          <p:cNvPr id="542" name="Google Shape;542;p89"/>
          <p:cNvPicPr preferRelativeResize="0"/>
          <p:nvPr/>
        </p:nvPicPr>
        <p:blipFill>
          <a:blip r:embed="rId3">
            <a:alphaModFix/>
          </a:blip>
          <a:stretch>
            <a:fillRect/>
          </a:stretch>
        </p:blipFill>
        <p:spPr>
          <a:xfrm>
            <a:off x="152400" y="2006250"/>
            <a:ext cx="6023160" cy="29848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Generic di Type Parameter</a:t>
            </a:r>
            <a:endParaRPr/>
          </a:p>
        </p:txBody>
      </p:sp>
      <p:sp>
        <p:nvSpPr>
          <p:cNvPr id="548" name="Google Shape;548;p9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kasus tertentu, kadang ada kebutuhan kita menggunakan type parameter yang ternyata type ternyata type tersebut juga generic atau memiliki type parameter</a:t>
            </a:r>
            <a:endParaRPr/>
          </a:p>
          <a:p>
            <a:pPr indent="-311150" lvl="0" marL="457200" rtl="0" algn="l">
              <a:spcBef>
                <a:spcPts val="0"/>
              </a:spcBef>
              <a:spcAft>
                <a:spcPts val="0"/>
              </a:spcAft>
              <a:buSzPts val="1300"/>
              <a:buChar char="●"/>
            </a:pPr>
            <a:r>
              <a:rPr lang="id"/>
              <a:t>Kita juga bisa menggunakan in line type constraint agar lebih mudah, dengan cara menambahkan type parameter selanjutnya, misal</a:t>
            </a:r>
            <a:endParaRPr/>
          </a:p>
          <a:p>
            <a:pPr indent="-311150" lvl="0" marL="457200" rtl="0" algn="l">
              <a:spcBef>
                <a:spcPts val="0"/>
              </a:spcBef>
              <a:spcAft>
                <a:spcPts val="0"/>
              </a:spcAft>
              <a:buSzPts val="1300"/>
              <a:buChar char="●"/>
            </a:pPr>
            <a:r>
              <a:rPr lang="id"/>
              <a:t>[S interface{[]E}, E interface{}], artinya S harus slice element E, dimana E boleh tipe apapun</a:t>
            </a:r>
            <a:endParaRPr/>
          </a:p>
          <a:p>
            <a:pPr indent="-311150" lvl="0" marL="457200" rtl="0" algn="l">
              <a:spcBef>
                <a:spcPts val="0"/>
              </a:spcBef>
              <a:spcAft>
                <a:spcPts val="0"/>
              </a:spcAft>
              <a:buSzPts val="1300"/>
              <a:buChar char="●"/>
            </a:pPr>
            <a:r>
              <a:rPr lang="id"/>
              <a:t>[S []E, E any], artinya S harus slice element E, dimana E boleh tipe apapun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Generic di Type Parameter</a:t>
            </a:r>
            <a:endParaRPr/>
          </a:p>
        </p:txBody>
      </p:sp>
      <p:pic>
        <p:nvPicPr>
          <p:cNvPr id="554" name="Google Shape;554;p91"/>
          <p:cNvPicPr preferRelativeResize="0"/>
          <p:nvPr/>
        </p:nvPicPr>
        <p:blipFill>
          <a:blip r:embed="rId3">
            <a:alphaModFix/>
          </a:blip>
          <a:stretch>
            <a:fillRect/>
          </a:stretch>
        </p:blipFill>
        <p:spPr>
          <a:xfrm>
            <a:off x="152400" y="2006250"/>
            <a:ext cx="6629040" cy="29848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9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Experimental Package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Experimental Package</a:t>
            </a:r>
            <a:endParaRPr/>
          </a:p>
        </p:txBody>
      </p:sp>
      <p:sp>
        <p:nvSpPr>
          <p:cNvPr id="565" name="Google Shape;565;p9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versi Go-Lang 1.18, terdapat experimental package yang banyak menggunakan fitur Generic, namun belum resmi masuk ke Go-Lang Standard Library</a:t>
            </a:r>
            <a:endParaRPr/>
          </a:p>
          <a:p>
            <a:pPr indent="-311150" lvl="0" marL="457200" rtl="0" algn="l">
              <a:spcBef>
                <a:spcPts val="0"/>
              </a:spcBef>
              <a:spcAft>
                <a:spcPts val="0"/>
              </a:spcAft>
              <a:buSzPts val="1300"/>
              <a:buChar char="●"/>
            </a:pPr>
            <a:r>
              <a:rPr lang="id"/>
              <a:t>Kedepannya, karena ini masih experimental (percobaan), bisa jadi package ini akan berubah atau bahkan mungkin akan dihapus</a:t>
            </a:r>
            <a:endParaRPr/>
          </a:p>
          <a:p>
            <a:pPr indent="-311150" lvl="0" marL="457200" rtl="0" algn="l">
              <a:spcBef>
                <a:spcPts val="0"/>
              </a:spcBef>
              <a:spcAft>
                <a:spcPts val="0"/>
              </a:spcAft>
              <a:buSzPts val="1300"/>
              <a:buChar char="●"/>
            </a:pPr>
            <a:r>
              <a:rPr lang="id" u="sng">
                <a:solidFill>
                  <a:schemeClr val="hlink"/>
                </a:solidFill>
                <a:hlinkClick r:id="rId3"/>
              </a:rPr>
              <a:t>https://pkg.go.dev/golang.org/x/exp</a:t>
            </a:r>
            <a:r>
              <a:rPr lang="id"/>
              <a:t> </a:t>
            </a:r>
            <a:endParaRPr/>
          </a:p>
          <a:p>
            <a:pPr indent="-311150" lvl="0" marL="457200" rtl="0" algn="l">
              <a:spcBef>
                <a:spcPts val="0"/>
              </a:spcBef>
              <a:spcAft>
                <a:spcPts val="0"/>
              </a:spcAft>
              <a:buSzPts val="1300"/>
              <a:buChar char="●"/>
            </a:pPr>
            <a:r>
              <a:rPr lang="id"/>
              <a:t>Silahkan install sebagai dependency di Go Modules menggunakan perintah </a:t>
            </a:r>
            <a:br>
              <a:rPr lang="id"/>
            </a:br>
            <a:r>
              <a:rPr lang="id"/>
              <a:t>go get golang.org/x/exp</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9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Constraints Package</a:t>
            </a:r>
            <a:endParaRPr/>
          </a:p>
        </p:txBody>
      </p:sp>
      <p:sp>
        <p:nvSpPr>
          <p:cNvPr id="571" name="Google Shape;571;p9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Constraints Package berisi type declaration yang bisa kita gunakan untuk tipe data bawaan Go-Lang, misal Number, Complex, Ordered, dan lain-lain</a:t>
            </a:r>
            <a:endParaRPr/>
          </a:p>
          <a:p>
            <a:pPr indent="-311150" lvl="0" marL="457200" rtl="0" algn="l">
              <a:spcBef>
                <a:spcPts val="0"/>
              </a:spcBef>
              <a:spcAft>
                <a:spcPts val="0"/>
              </a:spcAft>
              <a:buSzPts val="1300"/>
              <a:buChar char="●"/>
            </a:pPr>
            <a:r>
              <a:rPr lang="id" u="sng">
                <a:solidFill>
                  <a:schemeClr val="hlink"/>
                </a:solidFill>
                <a:hlinkClick r:id="rId3"/>
              </a:rPr>
              <a:t>https://pkg.go.dev/golang.org/x/exp/constraints</a:t>
            </a:r>
            <a:r>
              <a:rPr lang="id"/>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Experimental Constraints</a:t>
            </a:r>
            <a:endParaRPr/>
          </a:p>
        </p:txBody>
      </p:sp>
      <p:pic>
        <p:nvPicPr>
          <p:cNvPr id="577" name="Google Shape;577;p95"/>
          <p:cNvPicPr preferRelativeResize="0"/>
          <p:nvPr/>
        </p:nvPicPr>
        <p:blipFill>
          <a:blip r:embed="rId3">
            <a:alphaModFix/>
          </a:blip>
          <a:stretch>
            <a:fillRect/>
          </a:stretch>
        </p:blipFill>
        <p:spPr>
          <a:xfrm>
            <a:off x="152400" y="2006250"/>
            <a:ext cx="7615195" cy="29848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Maps &amp; Slices Packages</a:t>
            </a:r>
            <a:endParaRPr/>
          </a:p>
        </p:txBody>
      </p:sp>
      <p:sp>
        <p:nvSpPr>
          <p:cNvPr id="583" name="Google Shape;583;p9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Terdapat juga package maps dan slices, yang berisi function untuk mengelola data Map dan Slice, namun sudah menggunakan fitur Generic</a:t>
            </a:r>
            <a:endParaRPr/>
          </a:p>
          <a:p>
            <a:pPr indent="-311150" lvl="0" marL="457200" rtl="0" algn="l">
              <a:spcBef>
                <a:spcPts val="0"/>
              </a:spcBef>
              <a:spcAft>
                <a:spcPts val="0"/>
              </a:spcAft>
              <a:buSzPts val="1300"/>
              <a:buChar char="●"/>
            </a:pPr>
            <a:r>
              <a:rPr lang="id" u="sng">
                <a:solidFill>
                  <a:schemeClr val="hlink"/>
                </a:solidFill>
                <a:hlinkClick r:id="rId3"/>
              </a:rPr>
              <a:t>https://pkg.go.dev/golang.org/x/exp/maps</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https://pkg.go.dev/golang.org/x/exp/slices</a:t>
            </a:r>
            <a:r>
              <a:rPr lang="id"/>
              <a:t>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Experimental Maps</a:t>
            </a:r>
            <a:endParaRPr/>
          </a:p>
        </p:txBody>
      </p:sp>
      <p:pic>
        <p:nvPicPr>
          <p:cNvPr id="589" name="Google Shape;589;p97"/>
          <p:cNvPicPr preferRelativeResize="0"/>
          <p:nvPr/>
        </p:nvPicPr>
        <p:blipFill>
          <a:blip r:embed="rId3">
            <a:alphaModFix/>
          </a:blip>
          <a:stretch>
            <a:fillRect/>
          </a:stretch>
        </p:blipFill>
        <p:spPr>
          <a:xfrm>
            <a:off x="152400" y="2006250"/>
            <a:ext cx="7774767" cy="29848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Experimental Slices</a:t>
            </a:r>
            <a:endParaRPr/>
          </a:p>
        </p:txBody>
      </p:sp>
      <p:pic>
        <p:nvPicPr>
          <p:cNvPr id="595" name="Google Shape;595;p98"/>
          <p:cNvPicPr preferRelativeResize="0"/>
          <p:nvPr/>
        </p:nvPicPr>
        <p:blipFill>
          <a:blip r:embed="rId3">
            <a:alphaModFix/>
          </a:blip>
          <a:stretch>
            <a:fillRect/>
          </a:stretch>
        </p:blipFill>
        <p:spPr>
          <a:xfrm>
            <a:off x="152400" y="2006250"/>
            <a:ext cx="8839202" cy="245849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9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606" name="Google Shape;606;p10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Belajar Framework dan Library Go-Lang</a:t>
            </a:r>
            <a:endParaRPr/>
          </a:p>
          <a:p>
            <a:pPr indent="-311150" lvl="0" marL="457200" rtl="0" algn="l">
              <a:spcBef>
                <a:spcPts val="0"/>
              </a:spcBef>
              <a:spcAft>
                <a:spcPts val="0"/>
              </a:spcAft>
              <a:buSzPts val="1300"/>
              <a:buChar char="●"/>
            </a:pPr>
            <a:r>
              <a:rPr lang="id"/>
              <a:t>Studi Kasus Membuat Aplikasi menggunakan Go-Lang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