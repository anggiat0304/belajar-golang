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y="5143500" cx="9144000"/>
  <p:notesSz cx="6858000" cy="9144000"/>
  <p:embeddedFontLst>
    <p:embeddedFont>
      <p:font typeface="Raleway"/>
      <p:regular r:id="rId85"/>
      <p:bold r:id="rId86"/>
      <p:italic r:id="rId87"/>
      <p:boldItalic r:id="rId88"/>
    </p:embeddedFont>
    <p:embeddedFont>
      <p:font typeface="Lato"/>
      <p:regular r:id="rId89"/>
      <p:bold r:id="rId90"/>
      <p:italic r:id="rId91"/>
      <p:boldItalic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font" Target="fonts/Raleway-bold.fntdata"/><Relationship Id="rId41" Type="http://schemas.openxmlformats.org/officeDocument/2006/relationships/slide" Target="slides/slide35.xml"/><Relationship Id="rId85" Type="http://schemas.openxmlformats.org/officeDocument/2006/relationships/font" Target="fonts/Raleway-regular.fntdata"/><Relationship Id="rId44" Type="http://schemas.openxmlformats.org/officeDocument/2006/relationships/slide" Target="slides/slide38.xml"/><Relationship Id="rId88" Type="http://schemas.openxmlformats.org/officeDocument/2006/relationships/font" Target="fonts/Raleway-boldItalic.fntdata"/><Relationship Id="rId43" Type="http://schemas.openxmlformats.org/officeDocument/2006/relationships/slide" Target="slides/slide37.xml"/><Relationship Id="rId87" Type="http://schemas.openxmlformats.org/officeDocument/2006/relationships/font" Target="fonts/Raleway-italic.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Lato-regular.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Lato-italic.fntdata"/><Relationship Id="rId90" Type="http://schemas.openxmlformats.org/officeDocument/2006/relationships/font" Target="fonts/Lato-bold.fntdata"/><Relationship Id="rId92" Type="http://schemas.openxmlformats.org/officeDocument/2006/relationships/font" Target="fonts/Lato-bold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e99993a824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e99993a82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e99993a824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e99993a824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e99993a824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e99993a824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e99993a824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e99993a824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e99993a824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e99993a824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01f95782f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01f95782f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01f95782f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01f95782f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01f95782f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01f95782f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01f95782f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01f95782f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01f95782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01f95782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01f95782f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01f95782f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01f95782f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01f95782f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e99993a824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e99993a824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01f95782f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01f95782f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01f95782f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01f95782f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01f95782f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01f95782f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01f95782f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01f95782f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01f95782f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01f95782f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01f95782f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01f95782f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01f95782f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01f95782f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1f95782f7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1f95782f7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01f95782f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01f95782f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01f95782f7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01f95782f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01f95782f7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01f95782f7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01f95782f7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01f95782f7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01f95782f7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01f95782f7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01f95782f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01f95782f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01f95782f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01f95782f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01f95782f7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01f95782f7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01f95782f7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01f95782f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01f95782f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01f95782f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01f95782f7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01f95782f7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01f95782f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01f95782f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01f95782f7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01f95782f7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01f95782f7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01f95782f7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01f95782f7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01f95782f7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01f95782f7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01f95782f7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01f95782f7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01f95782f7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01f95782f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01f95782f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01f95782f7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01f95782f7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01f95782f7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01f95782f7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01f95782f7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01f95782f7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01f95782f7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01f95782f7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01f95782f7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01f95782f7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01f95782f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01f95782f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01f95782f7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01f95782f7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01f95782f7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01f95782f7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01f95782f7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01f95782f7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01f95782f7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01f95782f7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01f95782f7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01f95782f7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01f95782f7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01f95782f7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01f95782f7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01f95782f7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01f95782f7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01f95782f7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01f95782f7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101f95782f7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01f95782f7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101f95782f7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101f95782f7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101f95782f7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01f95782f7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101f95782f7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01f95782f7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01f95782f7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01f95782f7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01f95782f7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01f95782f7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01f95782f7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01f95782f7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01f95782f7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101f95782f7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101f95782f7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101f95782f7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101f95782f7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01f95782f7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101f95782f7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01f95782f7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01f95782f7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01f95782f7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101f95782f7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fbea628f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fbea628f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fbea628f8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fbea628f8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fbea628f8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fbea628f8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01f95782f7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101f95782f7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fbea628f8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fbea628f8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fbea628f8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fbea628f8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fbea628f8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fbea628f8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fbea628f8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fbea628f8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101f95782f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101f95782f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fbea628f8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fbea628f8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101f95782f7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101f95782f7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hyperlink" Target="https://github.com/google/wire" TargetMode="External"/><Relationship Id="rId4" Type="http://schemas.openxmlformats.org/officeDocument/2006/relationships/hyperlink" Target="https://github.com/uber-go/fx" TargetMode="External"/><Relationship Id="rId5" Type="http://schemas.openxmlformats.org/officeDocument/2006/relationships/hyperlink" Target="https://github.com/golobby/contain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hyperlink" Target="https://github.com/ProgrammerZamanNow/belajar-golang-restful-api"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4.pn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2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2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2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2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2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23.png"/><Relationship Id="rId4" Type="http://schemas.openxmlformats.org/officeDocument/2006/relationships/image" Target="../media/image2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27.png"/><Relationship Id="rId4"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3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 Id="rId3" Type="http://schemas.openxmlformats.org/officeDocument/2006/relationships/image" Target="../media/image3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3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3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3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3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 Id="rId3" Type="http://schemas.openxmlformats.org/officeDocument/2006/relationships/image" Target="../media/image3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a:t>
            </a:r>
            <a:endParaRPr/>
          </a:p>
          <a:p>
            <a:pPr indent="0" lvl="0" marL="0" rtl="0" algn="l">
              <a:spcBef>
                <a:spcPts val="0"/>
              </a:spcBef>
              <a:spcAft>
                <a:spcPts val="0"/>
              </a:spcAft>
              <a:buNone/>
            </a:pPr>
            <a:r>
              <a:rPr lang="id"/>
              <a:t>Dependency Injection</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RESTful API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Dependency Injection</a:t>
            </a:r>
            <a:endParaRPr/>
          </a:p>
          <a:p>
            <a:pPr indent="-311150" lvl="0" marL="457200" rtl="0" algn="l">
              <a:spcBef>
                <a:spcPts val="0"/>
              </a:spcBef>
              <a:spcAft>
                <a:spcPts val="0"/>
              </a:spcAft>
              <a:buSzPts val="1300"/>
              <a:buChar char="●"/>
            </a:pPr>
            <a:r>
              <a:rPr lang="id"/>
              <a:t>Pengenalan Google Wire</a:t>
            </a:r>
            <a:endParaRPr/>
          </a:p>
          <a:p>
            <a:pPr indent="-311150" lvl="0" marL="457200" rtl="0" algn="l">
              <a:spcBef>
                <a:spcPts val="0"/>
              </a:spcBef>
              <a:spcAft>
                <a:spcPts val="0"/>
              </a:spcAft>
              <a:buSzPts val="1300"/>
              <a:buChar char="●"/>
            </a:pPr>
            <a:r>
              <a:rPr lang="id"/>
              <a:t>Dependency Injection Secara Manual</a:t>
            </a:r>
            <a:endParaRPr/>
          </a:p>
          <a:p>
            <a:pPr indent="-311150" lvl="0" marL="457200" rtl="0" algn="l">
              <a:spcBef>
                <a:spcPts val="0"/>
              </a:spcBef>
              <a:spcAft>
                <a:spcPts val="0"/>
              </a:spcAft>
              <a:buSzPts val="1300"/>
              <a:buChar char="●"/>
            </a:pPr>
            <a:r>
              <a:rPr lang="id"/>
              <a:t>Dependency Injection Secara Otomatis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Dependency Injection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Dependency Injection</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pembuatan perangkat lunak, Dependency Injection merupakan sebuah teknik dimana sebuah object menerima object lain yang dibutuhkan (dependencies) ketika pembuatan object itu sendiri</a:t>
            </a:r>
            <a:endParaRPr/>
          </a:p>
          <a:p>
            <a:pPr indent="-311150" lvl="0" marL="457200" rtl="0" algn="l">
              <a:spcBef>
                <a:spcPts val="0"/>
              </a:spcBef>
              <a:spcAft>
                <a:spcPts val="0"/>
              </a:spcAft>
              <a:buSzPts val="1300"/>
              <a:buChar char="●"/>
            </a:pPr>
            <a:r>
              <a:rPr lang="id"/>
              <a:t>Biasanya object yang menerima dependencies disebut client, proses mengirim dependencies ke object tersebut biasa dibilang inject</a:t>
            </a:r>
            <a:endParaRPr/>
          </a:p>
          <a:p>
            <a:pPr indent="-311150" lvl="0" marL="457200" rtl="0" algn="l">
              <a:spcBef>
                <a:spcPts val="0"/>
              </a:spcBef>
              <a:spcAft>
                <a:spcPts val="0"/>
              </a:spcAft>
              <a:buSzPts val="1300"/>
              <a:buChar char="●"/>
            </a:pPr>
            <a:r>
              <a:rPr lang="id"/>
              <a:t>Dependency Injection sebenarnya sudah sering sekali kita lakukan, misal membuat object Controller yang membutuhkan dependencies object Service, atau membuat object Service yang membutuhkan dependencies object Repository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Function Sebagai Constructor (1)</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bahasa pemrograman berorientasi object, ada istilah yang bernama Constructor, yaitu sebuah function yang digunakan ketika sebuah object dibuat</a:t>
            </a:r>
            <a:endParaRPr/>
          </a:p>
          <a:p>
            <a:pPr indent="-311150" lvl="0" marL="457200" rtl="0" algn="l">
              <a:spcBef>
                <a:spcPts val="0"/>
              </a:spcBef>
              <a:spcAft>
                <a:spcPts val="0"/>
              </a:spcAft>
              <a:buSzPts val="1300"/>
              <a:buChar char="●"/>
            </a:pPr>
            <a:r>
              <a:rPr lang="id"/>
              <a:t>Di Go-Lang, biasanya kita juga membuat sebuah function untuk membuat object, dan ini mirip seperti Constructor tugasnya, yaitu membuat object baru</a:t>
            </a:r>
            <a:endParaRPr/>
          </a:p>
        </p:txBody>
      </p:sp>
      <p:pic>
        <p:nvPicPr>
          <p:cNvPr id="207" name="Google Shape;207;p32"/>
          <p:cNvPicPr preferRelativeResize="0"/>
          <p:nvPr/>
        </p:nvPicPr>
        <p:blipFill>
          <a:blip r:embed="rId3">
            <a:alphaModFix/>
          </a:blip>
          <a:stretch>
            <a:fillRect/>
          </a:stretch>
        </p:blipFill>
        <p:spPr>
          <a:xfrm>
            <a:off x="0" y="3363556"/>
            <a:ext cx="9144002" cy="17799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Function Sebagai Constructor (2)</a:t>
            </a:r>
            <a:endParaRPr/>
          </a:p>
        </p:txBody>
      </p:sp>
      <p:sp>
        <p:nvSpPr>
          <p:cNvPr id="213" name="Google Shape;213;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Biasanya kita akan membuat object dengan memanggil function Constructor tersebut, lalu mengirimkan dependencies yang dibutuhkan pada function Constructor tersebut</a:t>
            </a:r>
            <a:endParaRPr/>
          </a:p>
          <a:p>
            <a:pPr indent="-311150" lvl="0" marL="457200" rtl="0" algn="l">
              <a:spcBef>
                <a:spcPts val="0"/>
              </a:spcBef>
              <a:spcAft>
                <a:spcPts val="0"/>
              </a:spcAft>
              <a:buSzPts val="1300"/>
              <a:buChar char="●"/>
            </a:pPr>
            <a:r>
              <a:rPr lang="id"/>
              <a:t>Cara seperti ini mudah dilakukan ketika kode program aplikasi kita tidak terlalu besar</a:t>
            </a:r>
            <a:endParaRPr/>
          </a:p>
          <a:p>
            <a:pPr indent="-311150" lvl="0" marL="457200" rtl="0" algn="l">
              <a:spcBef>
                <a:spcPts val="0"/>
              </a:spcBef>
              <a:spcAft>
                <a:spcPts val="0"/>
              </a:spcAft>
              <a:buSzPts val="1300"/>
              <a:buChar char="●"/>
            </a:pPr>
            <a:r>
              <a:rPr lang="id"/>
              <a:t>Namun saat kode program aplikasi kita semakin besar, akan semakin sulit melakukan hal ini, terutama kita harus tahu urutan object mana yang harus dibuat terlebih dahulu</a:t>
            </a:r>
            <a:endParaRPr/>
          </a:p>
          <a:p>
            <a:pPr indent="-311150" lvl="0" marL="457200" rtl="0" algn="l">
              <a:spcBef>
                <a:spcPts val="0"/>
              </a:spcBef>
              <a:spcAft>
                <a:spcPts val="0"/>
              </a:spcAft>
              <a:buSzPts val="1300"/>
              <a:buChar char="●"/>
            </a:pPr>
            <a:r>
              <a:rPr lang="id"/>
              <a:t>Oleh karena ini, proses Dependency Injection sebenarnya bisa kita permudah dengan memanfaatkan library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Manual Dependency Injection</a:t>
            </a:r>
            <a:endParaRPr/>
          </a:p>
        </p:txBody>
      </p:sp>
      <p:pic>
        <p:nvPicPr>
          <p:cNvPr id="219" name="Google Shape;219;p34"/>
          <p:cNvPicPr preferRelativeResize="0"/>
          <p:nvPr/>
        </p:nvPicPr>
        <p:blipFill>
          <a:blip r:embed="rId3">
            <a:alphaModFix/>
          </a:blip>
          <a:stretch>
            <a:fillRect/>
          </a:stretch>
        </p:blipFill>
        <p:spPr>
          <a:xfrm>
            <a:off x="152400" y="2006250"/>
            <a:ext cx="8823014" cy="2984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Library Dependency Injection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Library Dependency Injection</a:t>
            </a:r>
            <a:endParaRPr/>
          </a:p>
        </p:txBody>
      </p:sp>
      <p:sp>
        <p:nvSpPr>
          <p:cNvPr id="230" name="Google Shape;230;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Banyak sekali library Dependency Injection yang bisa kita gunakan di Go-Lang, misalnya</a:t>
            </a:r>
            <a:endParaRPr/>
          </a:p>
          <a:p>
            <a:pPr indent="-311150" lvl="0" marL="457200" rtl="0" algn="l">
              <a:spcBef>
                <a:spcPts val="0"/>
              </a:spcBef>
              <a:spcAft>
                <a:spcPts val="0"/>
              </a:spcAft>
              <a:buSzPts val="1300"/>
              <a:buChar char="●"/>
            </a:pPr>
            <a:r>
              <a:rPr lang="id" u="sng">
                <a:solidFill>
                  <a:schemeClr val="hlink"/>
                </a:solidFill>
                <a:hlinkClick r:id="rId3"/>
              </a:rPr>
              <a:t>https://github.com/google/wire</a:t>
            </a:r>
            <a:r>
              <a:rPr lang="id"/>
              <a:t> </a:t>
            </a:r>
            <a:endParaRPr/>
          </a:p>
          <a:p>
            <a:pPr indent="-311150" lvl="0" marL="457200" rtl="0" algn="l">
              <a:spcBef>
                <a:spcPts val="0"/>
              </a:spcBef>
              <a:spcAft>
                <a:spcPts val="0"/>
              </a:spcAft>
              <a:buSzPts val="1300"/>
              <a:buChar char="●"/>
            </a:pPr>
            <a:r>
              <a:rPr lang="id" u="sng">
                <a:solidFill>
                  <a:schemeClr val="hlink"/>
                </a:solidFill>
                <a:hlinkClick r:id="rId4"/>
              </a:rPr>
              <a:t>https://github.com/uber-go/fx</a:t>
            </a:r>
            <a:r>
              <a:rPr lang="id"/>
              <a:t> </a:t>
            </a:r>
            <a:endParaRPr/>
          </a:p>
          <a:p>
            <a:pPr indent="-311150" lvl="0" marL="457200" rtl="0" algn="l">
              <a:spcBef>
                <a:spcPts val="0"/>
              </a:spcBef>
              <a:spcAft>
                <a:spcPts val="0"/>
              </a:spcAft>
              <a:buSzPts val="1300"/>
              <a:buChar char="●"/>
            </a:pPr>
            <a:r>
              <a:rPr lang="id" u="sng">
                <a:solidFill>
                  <a:schemeClr val="hlink"/>
                </a:solidFill>
                <a:hlinkClick r:id="rId5"/>
              </a:rPr>
              <a:t>https://github.com/golobby/container</a:t>
            </a:r>
            <a:r>
              <a:rPr lang="id"/>
              <a:t> </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Google Wire</a:t>
            </a:r>
            <a:endParaRPr/>
          </a:p>
        </p:txBody>
      </p:sp>
      <p:sp>
        <p:nvSpPr>
          <p:cNvPr id="236" name="Google Shape;236;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kelas ini, kita akan menggunakan Google Wire sebagai Dependency Injection library nya</a:t>
            </a:r>
            <a:endParaRPr/>
          </a:p>
          <a:p>
            <a:pPr indent="-311150" lvl="0" marL="457200" rtl="0" algn="l">
              <a:spcBef>
                <a:spcPts val="0"/>
              </a:spcBef>
              <a:spcAft>
                <a:spcPts val="0"/>
              </a:spcAft>
              <a:buSzPts val="1300"/>
              <a:buChar char="●"/>
            </a:pPr>
            <a:r>
              <a:rPr lang="id"/>
              <a:t>Salah satu kenapa Google Wire menjadi pilihan, karena saat ini Google Wire adalah library paling populer untuk melakukan Dependency Injection di Go-Lang</a:t>
            </a:r>
            <a:endParaRPr/>
          </a:p>
          <a:p>
            <a:pPr indent="-311150" lvl="0" marL="457200" rtl="0" algn="l">
              <a:spcBef>
                <a:spcPts val="0"/>
              </a:spcBef>
              <a:spcAft>
                <a:spcPts val="0"/>
              </a:spcAft>
              <a:buSzPts val="1300"/>
              <a:buChar char="●"/>
            </a:pPr>
            <a:r>
              <a:rPr lang="id"/>
              <a:t>Selain itu, Google Wire merupakan library Dependency Injection yang berbasis compile, artinya kodenya akan di generate, bukan menggunakan reflection</a:t>
            </a:r>
            <a:endParaRPr/>
          </a:p>
          <a:p>
            <a:pPr indent="-311150" lvl="0" marL="457200" rtl="0" algn="l">
              <a:spcBef>
                <a:spcPts val="0"/>
              </a:spcBef>
              <a:spcAft>
                <a:spcPts val="0"/>
              </a:spcAft>
              <a:buSzPts val="1300"/>
              <a:buChar char="●"/>
            </a:pPr>
            <a:r>
              <a:rPr lang="id"/>
              <a:t>Hal ini membuat Google Wire menjadi cepat, karena hasil kompilasi nya adalah kode yang sudah di generate melakukan Dependency Injection, tanpa perlu menggunakan reflection lagi</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Clone Project Go-Lang RESTful API</a:t>
            </a:r>
            <a:endParaRPr/>
          </a:p>
        </p:txBody>
      </p:sp>
      <p:sp>
        <p:nvSpPr>
          <p:cNvPr id="247" name="Google Shape;247;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u="sng">
                <a:solidFill>
                  <a:schemeClr val="hlink"/>
                </a:solidFill>
                <a:hlinkClick r:id="rId3"/>
              </a:rPr>
              <a:t>https://github.com/ProgrammerZamanNow/belajar-golang-restful-api</a:t>
            </a:r>
            <a:r>
              <a:rPr lang="id"/>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Tambah Dependency Google Wire</a:t>
            </a:r>
            <a:endParaRPr/>
          </a:p>
        </p:txBody>
      </p:sp>
      <p:sp>
        <p:nvSpPr>
          <p:cNvPr id="253" name="Google Shape;253;p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 go get github.com/google/wire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Menginstall Wire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Menginstall Wire</a:t>
            </a:r>
            <a:endParaRPr/>
          </a:p>
        </p:txBody>
      </p:sp>
      <p:sp>
        <p:nvSpPr>
          <p:cNvPr id="264" name="Google Shape;264;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Google Wire membutuhkan aplikasi command line wire untuk melakukan auto generate kode Dependency injection ketika kita nanti membuat kode</a:t>
            </a:r>
            <a:endParaRPr/>
          </a:p>
          <a:p>
            <a:pPr indent="-311150" lvl="0" marL="457200" rtl="0" algn="l">
              <a:spcBef>
                <a:spcPts val="0"/>
              </a:spcBef>
              <a:spcAft>
                <a:spcPts val="0"/>
              </a:spcAft>
              <a:buSzPts val="1300"/>
              <a:buChar char="●"/>
            </a:pPr>
            <a:r>
              <a:rPr lang="id"/>
              <a:t>Program ini perlu kita install manual di komputer kita dengan perintah :</a:t>
            </a:r>
            <a:br>
              <a:rPr lang="id"/>
            </a:br>
            <a:r>
              <a:rPr b="1" lang="id"/>
              <a:t> go install github.com/google/wire/cmd/wire@latest</a:t>
            </a:r>
            <a:endParaRPr b="1"/>
          </a:p>
          <a:p>
            <a:pPr indent="-311150" lvl="0" marL="457200" rtl="0" algn="l">
              <a:spcBef>
                <a:spcPts val="0"/>
              </a:spcBef>
              <a:spcAft>
                <a:spcPts val="0"/>
              </a:spcAft>
              <a:buSzPts val="1300"/>
              <a:buChar char="●"/>
            </a:pPr>
            <a:r>
              <a:rPr lang="id"/>
              <a:t>Secara otomatis akan ada file binary di $GOPATH/bin/wire</a:t>
            </a:r>
            <a:endParaRPr/>
          </a:p>
          <a:p>
            <a:pPr indent="-311150" lvl="0" marL="457200" rtl="0" algn="l">
              <a:spcBef>
                <a:spcPts val="0"/>
              </a:spcBef>
              <a:spcAft>
                <a:spcPts val="0"/>
              </a:spcAft>
              <a:buSzPts val="1300"/>
              <a:buChar char="●"/>
            </a:pPr>
            <a:r>
              <a:rPr lang="id"/>
              <a:t>Agar aplikasi command line wire tersebut bisa diakses, jangan lupa masukkan ke $PATH sistem operasi kita, seperti yang pernah kita lakukan ketika belajar setting $PATH Go-Lang di kelas Go-Lang Dasar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Program Wire</a:t>
            </a:r>
            <a:endParaRPr/>
          </a:p>
        </p:txBody>
      </p:sp>
      <p:pic>
        <p:nvPicPr>
          <p:cNvPr id="270" name="Google Shape;270;p43"/>
          <p:cNvPicPr preferRelativeResize="0"/>
          <p:nvPr/>
        </p:nvPicPr>
        <p:blipFill>
          <a:blip r:embed="rId3">
            <a:alphaModFix/>
          </a:blip>
          <a:stretch>
            <a:fillRect/>
          </a:stretch>
        </p:blipFill>
        <p:spPr>
          <a:xfrm>
            <a:off x="152400" y="2006250"/>
            <a:ext cx="8392188" cy="2984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Provider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Provider</a:t>
            </a:r>
            <a:endParaRPr/>
          </a:p>
        </p:txBody>
      </p:sp>
      <p:sp>
        <p:nvSpPr>
          <p:cNvPr id="281" name="Google Shape;281;p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melakukan Dependency Injection, kita perlu buat dalam bentuk function constructor</a:t>
            </a:r>
            <a:endParaRPr/>
          </a:p>
          <a:p>
            <a:pPr indent="-311150" lvl="0" marL="457200" rtl="0" algn="l">
              <a:spcBef>
                <a:spcPts val="0"/>
              </a:spcBef>
              <a:spcAft>
                <a:spcPts val="0"/>
              </a:spcAft>
              <a:buSzPts val="1300"/>
              <a:buChar char="●"/>
            </a:pPr>
            <a:r>
              <a:rPr lang="id"/>
              <a:t>Dalam Google Wire, function constructor tersebut kita sebut dengan Provider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a:t>
            </a:r>
            <a:endParaRPr/>
          </a:p>
        </p:txBody>
      </p:sp>
      <p:pic>
        <p:nvPicPr>
          <p:cNvPr id="287" name="Google Shape;287;p46"/>
          <p:cNvPicPr preferRelativeResize="0"/>
          <p:nvPr/>
        </p:nvPicPr>
        <p:blipFill>
          <a:blip r:embed="rId3">
            <a:alphaModFix/>
          </a:blip>
          <a:stretch>
            <a:fillRect/>
          </a:stretch>
        </p:blipFill>
        <p:spPr>
          <a:xfrm>
            <a:off x="152400" y="2006250"/>
            <a:ext cx="8839199" cy="22969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293" name="Google Shape;293;p47"/>
          <p:cNvPicPr preferRelativeResize="0"/>
          <p:nvPr/>
        </p:nvPicPr>
        <p:blipFill>
          <a:blip r:embed="rId3">
            <a:alphaModFix/>
          </a:blip>
          <a:stretch>
            <a:fillRect/>
          </a:stretch>
        </p:blipFill>
        <p:spPr>
          <a:xfrm>
            <a:off x="152400" y="2006250"/>
            <a:ext cx="8839202" cy="268449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Injector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Injector</a:t>
            </a:r>
            <a:endParaRPr/>
          </a:p>
        </p:txBody>
      </p:sp>
      <p:sp>
        <p:nvSpPr>
          <p:cNvPr id="304" name="Google Shape;304;p4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Setelah kita membuat Provider untuk nanti kita gunakan, selanjutnya kita perlu membuat Injector</a:t>
            </a:r>
            <a:endParaRPr/>
          </a:p>
          <a:p>
            <a:pPr indent="-311150" lvl="0" marL="457200" rtl="0" algn="l">
              <a:spcBef>
                <a:spcPts val="0"/>
              </a:spcBef>
              <a:spcAft>
                <a:spcPts val="0"/>
              </a:spcAft>
              <a:buSzPts val="1300"/>
              <a:buChar char="●"/>
            </a:pPr>
            <a:r>
              <a:rPr lang="id"/>
              <a:t>Injector sendiri adalah sebuah function constructor, namun isinya berupa konfigurasi yang kita beritahukan ke Google Wire</a:t>
            </a:r>
            <a:endParaRPr/>
          </a:p>
          <a:p>
            <a:pPr indent="-311150" lvl="0" marL="457200" rtl="0" algn="l">
              <a:spcBef>
                <a:spcPts val="0"/>
              </a:spcBef>
              <a:spcAft>
                <a:spcPts val="0"/>
              </a:spcAft>
              <a:buSzPts val="1300"/>
              <a:buChar char="●"/>
            </a:pPr>
            <a:r>
              <a:rPr lang="id"/>
              <a:t>Injector ini sendiri sebenarnya tidak akan digunakan oleh kode program kita, Injector ini adalah function yang akan digunakan oleh Google Wire untuk melakukan auto generate kode Dependency Injection</a:t>
            </a:r>
            <a:endParaRPr/>
          </a:p>
          <a:p>
            <a:pPr indent="-311150" lvl="0" marL="457200" rtl="0" algn="l">
              <a:spcBef>
                <a:spcPts val="0"/>
              </a:spcBef>
              <a:spcAft>
                <a:spcPts val="0"/>
              </a:spcAft>
              <a:buSzPts val="1300"/>
              <a:buChar char="●"/>
            </a:pPr>
            <a:r>
              <a:rPr lang="id"/>
              <a:t>Khusus ketika membuat Injector, pada file nya kita perlu tambahkan komentar penanda :</a:t>
            </a:r>
            <a:br>
              <a:rPr lang="id"/>
            </a:br>
            <a:r>
              <a:rPr lang="id"/>
              <a:t>go:build wireinject</a:t>
            </a:r>
            <a:br>
              <a:rPr lang="id"/>
            </a:br>
            <a:r>
              <a:rPr lang="id"/>
              <a:t> +build wireinject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Injector</a:t>
            </a:r>
            <a:endParaRPr/>
          </a:p>
        </p:txBody>
      </p:sp>
      <p:pic>
        <p:nvPicPr>
          <p:cNvPr id="310" name="Google Shape;310;p50"/>
          <p:cNvPicPr preferRelativeResize="0"/>
          <p:nvPr/>
        </p:nvPicPr>
        <p:blipFill>
          <a:blip r:embed="rId3">
            <a:alphaModFix/>
          </a:blip>
          <a:stretch>
            <a:fillRect/>
          </a:stretch>
        </p:blipFill>
        <p:spPr>
          <a:xfrm>
            <a:off x="152400" y="2006250"/>
            <a:ext cx="8839203" cy="99944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316" name="Google Shape;316;p51"/>
          <p:cNvPicPr preferRelativeResize="0"/>
          <p:nvPr/>
        </p:nvPicPr>
        <p:blipFill>
          <a:blip r:embed="rId3">
            <a:alphaModFix/>
          </a:blip>
          <a:stretch>
            <a:fillRect/>
          </a:stretch>
        </p:blipFill>
        <p:spPr>
          <a:xfrm>
            <a:off x="152400" y="2006250"/>
            <a:ext cx="7748173" cy="2984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Dependency Injection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Dependency Injection</a:t>
            </a:r>
            <a:endParaRPr/>
          </a:p>
        </p:txBody>
      </p:sp>
      <p:sp>
        <p:nvSpPr>
          <p:cNvPr id="327" name="Google Shape;327;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Setelah kita membuat Injector dan Provider, selanjutnya yang perlu kita lakukan adalah </a:t>
            </a:r>
            <a:r>
              <a:rPr lang="id"/>
              <a:t>menggunakan</a:t>
            </a:r>
            <a:r>
              <a:rPr lang="id"/>
              <a:t> aplikasi command line Google Wire untuk melakukan auto generate kode Dependency Injection</a:t>
            </a:r>
            <a:endParaRPr/>
          </a:p>
          <a:p>
            <a:pPr indent="-311150" lvl="0" marL="457200" rtl="0" algn="l">
              <a:spcBef>
                <a:spcPts val="0"/>
              </a:spcBef>
              <a:spcAft>
                <a:spcPts val="0"/>
              </a:spcAft>
              <a:buSzPts val="1300"/>
              <a:buChar char="●"/>
            </a:pPr>
            <a:r>
              <a:rPr lang="id"/>
              <a:t>Kita bisa menggunakan perintah ini untuk melakukan auto generate kode dependency injection :</a:t>
            </a:r>
            <a:br>
              <a:rPr lang="id"/>
            </a:br>
            <a:r>
              <a:rPr lang="id"/>
              <a:t>wire gen namapackage</a:t>
            </a:r>
            <a:endParaRPr/>
          </a:p>
          <a:p>
            <a:pPr indent="-311150" lvl="0" marL="457200" rtl="0" algn="l">
              <a:spcBef>
                <a:spcPts val="0"/>
              </a:spcBef>
              <a:spcAft>
                <a:spcPts val="0"/>
              </a:spcAft>
              <a:buSzPts val="1300"/>
              <a:buChar char="●"/>
            </a:pPr>
            <a:r>
              <a:rPr lang="id"/>
              <a:t>Secara otomatis aplikasi Google Wire akan mencari kode Injector di package tersebut, lalu membuat file wire_gen.go yang isinya adalah kode otomatis dependency injection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wire_gen.go</a:t>
            </a:r>
            <a:endParaRPr/>
          </a:p>
        </p:txBody>
      </p:sp>
      <p:pic>
        <p:nvPicPr>
          <p:cNvPr id="333" name="Google Shape;333;p54"/>
          <p:cNvPicPr preferRelativeResize="0"/>
          <p:nvPr/>
        </p:nvPicPr>
        <p:blipFill>
          <a:blip r:embed="rId3">
            <a:alphaModFix/>
          </a:blip>
          <a:stretch>
            <a:fillRect/>
          </a:stretch>
        </p:blipFill>
        <p:spPr>
          <a:xfrm>
            <a:off x="152400" y="2006250"/>
            <a:ext cx="8245384" cy="29848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a:t>
            </a:r>
            <a:endParaRPr/>
          </a:p>
        </p:txBody>
      </p:sp>
      <p:sp>
        <p:nvSpPr>
          <p:cNvPr id="344" name="Google Shape;344;p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Google Wire juga bisa mendeteksi jika terjadi error pada Provider kita</a:t>
            </a:r>
            <a:endParaRPr/>
          </a:p>
          <a:p>
            <a:pPr indent="-311150" lvl="0" marL="457200" rtl="0" algn="l">
              <a:spcBef>
                <a:spcPts val="0"/>
              </a:spcBef>
              <a:spcAft>
                <a:spcPts val="0"/>
              </a:spcAft>
              <a:buSzPts val="1300"/>
              <a:buChar char="●"/>
            </a:pPr>
            <a:r>
              <a:rPr lang="id"/>
              <a:t>Jika terdapat error, secara otomatis akan mengembalikan error ketika kita melakukan dependency injection</a:t>
            </a:r>
            <a:endParaRPr/>
          </a:p>
          <a:p>
            <a:pPr indent="-311150" lvl="0" marL="457200" rtl="0" algn="l">
              <a:spcBef>
                <a:spcPts val="0"/>
              </a:spcBef>
              <a:spcAft>
                <a:spcPts val="0"/>
              </a:spcAft>
              <a:buSzPts val="1300"/>
              <a:buChar char="●"/>
            </a:pPr>
            <a:r>
              <a:rPr lang="id"/>
              <a:t>Caranya sederhana, kita cukup buat di Provider return value kedua berupa error, dan di Injector nya juga perlu kita tambahkan return value kedua berupa error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350" name="Google Shape;350;p57"/>
          <p:cNvPicPr preferRelativeResize="0"/>
          <p:nvPr/>
        </p:nvPicPr>
        <p:blipFill>
          <a:blip r:embed="rId3">
            <a:alphaModFix/>
          </a:blip>
          <a:stretch>
            <a:fillRect/>
          </a:stretch>
        </p:blipFill>
        <p:spPr>
          <a:xfrm>
            <a:off x="152400" y="2006250"/>
            <a:ext cx="7541721" cy="2984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356" name="Google Shape;356;p58"/>
          <p:cNvPicPr preferRelativeResize="0"/>
          <p:nvPr/>
        </p:nvPicPr>
        <p:blipFill>
          <a:blip r:embed="rId3">
            <a:alphaModFix/>
          </a:blip>
          <a:stretch>
            <a:fillRect/>
          </a:stretch>
        </p:blipFill>
        <p:spPr>
          <a:xfrm>
            <a:off x="152400" y="2006250"/>
            <a:ext cx="8391831" cy="2984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Hasil Auto Generate</a:t>
            </a:r>
            <a:endParaRPr/>
          </a:p>
        </p:txBody>
      </p:sp>
      <p:pic>
        <p:nvPicPr>
          <p:cNvPr id="362" name="Google Shape;362;p59"/>
          <p:cNvPicPr preferRelativeResize="0"/>
          <p:nvPr/>
        </p:nvPicPr>
        <p:blipFill>
          <a:blip r:embed="rId3">
            <a:alphaModFix/>
          </a:blip>
          <a:stretch>
            <a:fillRect/>
          </a:stretch>
        </p:blipFill>
        <p:spPr>
          <a:xfrm>
            <a:off x="152400" y="2006250"/>
            <a:ext cx="8839201" cy="257160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Injector Parameter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Injector Signature</a:t>
            </a:r>
            <a:endParaRPr/>
          </a:p>
        </p:txBody>
      </p:sp>
      <p:sp>
        <p:nvSpPr>
          <p:cNvPr id="373" name="Google Shape;373;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Injector, kadang kita butuh parameter yang dinamis</a:t>
            </a:r>
            <a:endParaRPr/>
          </a:p>
          <a:p>
            <a:pPr indent="-311150" lvl="0" marL="457200" rtl="0" algn="l">
              <a:spcBef>
                <a:spcPts val="0"/>
              </a:spcBef>
              <a:spcAft>
                <a:spcPts val="0"/>
              </a:spcAft>
              <a:buSzPts val="1300"/>
              <a:buChar char="●"/>
            </a:pPr>
            <a:r>
              <a:rPr lang="id"/>
              <a:t>Dengan Google Wire, kita juga bisa mengirim parameter pada Injector yang akan di generate secara otomatis</a:t>
            </a:r>
            <a:endParaRPr/>
          </a:p>
          <a:p>
            <a:pPr indent="-311150" lvl="0" marL="457200" rtl="0" algn="l">
              <a:spcBef>
                <a:spcPts val="0"/>
              </a:spcBef>
              <a:spcAft>
                <a:spcPts val="0"/>
              </a:spcAft>
              <a:buSzPts val="1300"/>
              <a:buChar char="●"/>
            </a:pPr>
            <a:r>
              <a:rPr lang="id"/>
              <a:t>Secara otomatis jika ada Provider yang membutuhkan data dengan tipe parameter yang sama, secara otomatis data di parameter akan digunakan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379" name="Google Shape;379;p62"/>
          <p:cNvPicPr preferRelativeResize="0"/>
          <p:nvPr/>
        </p:nvPicPr>
        <p:blipFill>
          <a:blip r:embed="rId3">
            <a:alphaModFix/>
          </a:blip>
          <a:stretch>
            <a:fillRect/>
          </a:stretch>
        </p:blipFill>
        <p:spPr>
          <a:xfrm>
            <a:off x="152400" y="2006250"/>
            <a:ext cx="8839202" cy="238360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385" name="Google Shape;385;p63"/>
          <p:cNvPicPr preferRelativeResize="0"/>
          <p:nvPr/>
        </p:nvPicPr>
        <p:blipFill>
          <a:blip r:embed="rId3">
            <a:alphaModFix/>
          </a:blip>
          <a:stretch>
            <a:fillRect/>
          </a:stretch>
        </p:blipFill>
        <p:spPr>
          <a:xfrm>
            <a:off x="152400" y="2006250"/>
            <a:ext cx="8445232" cy="298485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Hasil Auto Generate</a:t>
            </a:r>
            <a:endParaRPr/>
          </a:p>
        </p:txBody>
      </p:sp>
      <p:pic>
        <p:nvPicPr>
          <p:cNvPr id="391" name="Google Shape;391;p64"/>
          <p:cNvPicPr preferRelativeResize="0"/>
          <p:nvPr/>
        </p:nvPicPr>
        <p:blipFill>
          <a:blip r:embed="rId3">
            <a:alphaModFix/>
          </a:blip>
          <a:stretch>
            <a:fillRect/>
          </a:stretch>
        </p:blipFill>
        <p:spPr>
          <a:xfrm>
            <a:off x="152400" y="2006250"/>
            <a:ext cx="8839199" cy="278713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Binding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Binding</a:t>
            </a:r>
            <a:endParaRPr/>
          </a:p>
        </p:txBody>
      </p:sp>
      <p:sp>
        <p:nvSpPr>
          <p:cNvPr id="402" name="Google Shape;402;p6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melakukan dependency injection, kadang ada kasus kita membuat beberapa Provider dengan tipe yang sama</a:t>
            </a:r>
            <a:endParaRPr/>
          </a:p>
          <a:p>
            <a:pPr indent="-311150" lvl="0" marL="457200" rtl="0" algn="l">
              <a:spcBef>
                <a:spcPts val="0"/>
              </a:spcBef>
              <a:spcAft>
                <a:spcPts val="0"/>
              </a:spcAft>
              <a:buSzPts val="1300"/>
              <a:buChar char="●"/>
            </a:pPr>
            <a:r>
              <a:rPr lang="id"/>
              <a:t>Hal ini akan membuat error proses auto generate kode dependency injection, karena Google Wire tidak mendukung multiple binding dengan tipe yang sama</a:t>
            </a:r>
            <a:endParaRPr/>
          </a:p>
          <a:p>
            <a:pPr indent="-311150" lvl="0" marL="457200" rtl="0" algn="l">
              <a:spcBef>
                <a:spcPts val="0"/>
              </a:spcBef>
              <a:spcAft>
                <a:spcPts val="0"/>
              </a:spcAft>
              <a:buSzPts val="1300"/>
              <a:buChar char="●"/>
            </a:pPr>
            <a:r>
              <a:rPr lang="id"/>
              <a:t>Pada kasus ini, kita bisa membuat tipe alias untuk multiple binding</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a:t>
            </a:r>
            <a:endParaRPr/>
          </a:p>
        </p:txBody>
      </p:sp>
      <p:pic>
        <p:nvPicPr>
          <p:cNvPr id="408" name="Google Shape;408;p67"/>
          <p:cNvPicPr preferRelativeResize="0"/>
          <p:nvPr/>
        </p:nvPicPr>
        <p:blipFill>
          <a:blip r:embed="rId3">
            <a:alphaModFix/>
          </a:blip>
          <a:stretch>
            <a:fillRect/>
          </a:stretch>
        </p:blipFill>
        <p:spPr>
          <a:xfrm>
            <a:off x="152400" y="2006250"/>
            <a:ext cx="8474470" cy="29848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414" name="Google Shape;414;p68"/>
          <p:cNvPicPr preferRelativeResize="0"/>
          <p:nvPr/>
        </p:nvPicPr>
        <p:blipFill>
          <a:blip r:embed="rId3">
            <a:alphaModFix/>
          </a:blip>
          <a:stretch>
            <a:fillRect/>
          </a:stretch>
        </p:blipFill>
        <p:spPr>
          <a:xfrm>
            <a:off x="152400" y="2006250"/>
            <a:ext cx="4044559" cy="2984849"/>
          </a:xfrm>
          <a:prstGeom prst="rect">
            <a:avLst/>
          </a:prstGeom>
          <a:noFill/>
          <a:ln>
            <a:noFill/>
          </a:ln>
        </p:spPr>
      </p:pic>
      <p:pic>
        <p:nvPicPr>
          <p:cNvPr id="415" name="Google Shape;415;p68"/>
          <p:cNvPicPr preferRelativeResize="0"/>
          <p:nvPr/>
        </p:nvPicPr>
        <p:blipFill>
          <a:blip r:embed="rId4">
            <a:alphaModFix/>
          </a:blip>
          <a:stretch>
            <a:fillRect/>
          </a:stretch>
        </p:blipFill>
        <p:spPr>
          <a:xfrm>
            <a:off x="4349359" y="2006250"/>
            <a:ext cx="4642241" cy="246554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 </a:t>
            </a:r>
            <a:endParaRPr/>
          </a:p>
        </p:txBody>
      </p:sp>
      <p:pic>
        <p:nvPicPr>
          <p:cNvPr id="421" name="Google Shape;421;p69"/>
          <p:cNvPicPr preferRelativeResize="0"/>
          <p:nvPr/>
        </p:nvPicPr>
        <p:blipFill>
          <a:blip r:embed="rId3">
            <a:alphaModFix/>
          </a:blip>
          <a:stretch>
            <a:fillRect/>
          </a:stretch>
        </p:blipFill>
        <p:spPr>
          <a:xfrm>
            <a:off x="152400" y="2006250"/>
            <a:ext cx="8839200" cy="247361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Provider Set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Provider Set</a:t>
            </a:r>
            <a:endParaRPr/>
          </a:p>
        </p:txBody>
      </p:sp>
      <p:sp>
        <p:nvSpPr>
          <p:cNvPr id="432" name="Google Shape;432;p7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Google Wire memiliki fitur yang bernama Provider Set, fitur ini digunakan untuk melakukan grouping Provider</a:t>
            </a:r>
            <a:endParaRPr/>
          </a:p>
          <a:p>
            <a:pPr indent="-311150" lvl="0" marL="457200" rtl="0" algn="l">
              <a:spcBef>
                <a:spcPts val="0"/>
              </a:spcBef>
              <a:spcAft>
                <a:spcPts val="0"/>
              </a:spcAft>
              <a:buSzPts val="1300"/>
              <a:buChar char="●"/>
            </a:pPr>
            <a:r>
              <a:rPr lang="id"/>
              <a:t>Provider Set sangat berguna ketika kode program kita sudah banyak, dan Providernya sudah banyak, sehingga akan lebih mudah untuk dibaca ketika kita grouping data Provider nya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Foo</a:t>
            </a:r>
            <a:endParaRPr/>
          </a:p>
        </p:txBody>
      </p:sp>
      <p:pic>
        <p:nvPicPr>
          <p:cNvPr id="438" name="Google Shape;438;p72"/>
          <p:cNvPicPr preferRelativeResize="0"/>
          <p:nvPr/>
        </p:nvPicPr>
        <p:blipFill>
          <a:blip r:embed="rId3">
            <a:alphaModFix/>
          </a:blip>
          <a:stretch>
            <a:fillRect/>
          </a:stretch>
        </p:blipFill>
        <p:spPr>
          <a:xfrm>
            <a:off x="152400" y="2006250"/>
            <a:ext cx="7542799" cy="298485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Bar</a:t>
            </a:r>
            <a:endParaRPr/>
          </a:p>
        </p:txBody>
      </p:sp>
      <p:pic>
        <p:nvPicPr>
          <p:cNvPr id="444" name="Google Shape;444;p73"/>
          <p:cNvPicPr preferRelativeResize="0"/>
          <p:nvPr/>
        </p:nvPicPr>
        <p:blipFill>
          <a:blip r:embed="rId3">
            <a:alphaModFix/>
          </a:blip>
          <a:stretch>
            <a:fillRect/>
          </a:stretch>
        </p:blipFill>
        <p:spPr>
          <a:xfrm>
            <a:off x="152400" y="2006250"/>
            <a:ext cx="7350622" cy="29848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Foo Bar</a:t>
            </a:r>
            <a:endParaRPr/>
          </a:p>
        </p:txBody>
      </p:sp>
      <p:pic>
        <p:nvPicPr>
          <p:cNvPr id="450" name="Google Shape;450;p74"/>
          <p:cNvPicPr preferRelativeResize="0"/>
          <p:nvPr/>
        </p:nvPicPr>
        <p:blipFill>
          <a:blip r:embed="rId3">
            <a:alphaModFix/>
          </a:blip>
          <a:stretch>
            <a:fillRect/>
          </a:stretch>
        </p:blipFill>
        <p:spPr>
          <a:xfrm>
            <a:off x="152400" y="2006250"/>
            <a:ext cx="8839199" cy="275300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 Set</a:t>
            </a:r>
            <a:endParaRPr/>
          </a:p>
        </p:txBody>
      </p:sp>
      <p:pic>
        <p:nvPicPr>
          <p:cNvPr id="456" name="Google Shape;456;p75"/>
          <p:cNvPicPr preferRelativeResize="0"/>
          <p:nvPr/>
        </p:nvPicPr>
        <p:blipFill>
          <a:blip r:embed="rId3">
            <a:alphaModFix/>
          </a:blip>
          <a:stretch>
            <a:fillRect/>
          </a:stretch>
        </p:blipFill>
        <p:spPr>
          <a:xfrm>
            <a:off x="152400" y="2006250"/>
            <a:ext cx="8839201" cy="269627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Binding Interface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Binding Interface</a:t>
            </a:r>
            <a:endParaRPr/>
          </a:p>
        </p:txBody>
      </p:sp>
      <p:sp>
        <p:nvSpPr>
          <p:cNvPr id="467" name="Google Shape;467;p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pembuatan aplikasi, sering sekali kita biasanya menggunakan Interface sebagai kontrak struct</a:t>
            </a:r>
            <a:endParaRPr/>
          </a:p>
          <a:p>
            <a:pPr indent="-311150" lvl="0" marL="457200" rtl="0" algn="l">
              <a:spcBef>
                <a:spcPts val="0"/>
              </a:spcBef>
              <a:spcAft>
                <a:spcPts val="0"/>
              </a:spcAft>
              <a:buSzPts val="1300"/>
              <a:buChar char="●"/>
            </a:pPr>
            <a:r>
              <a:rPr lang="id"/>
              <a:t>Secara default, Google Wire akan menggunakan tipe data asli untuk melakukan dependency injection, jadi jika terdapat parameter berupa Interface, dan tidak ada Provider yang mengembalikan Interface tersebut, maka akan dianggap error</a:t>
            </a:r>
            <a:endParaRPr/>
          </a:p>
          <a:p>
            <a:pPr indent="-311150" lvl="0" marL="457200" rtl="0" algn="l">
              <a:spcBef>
                <a:spcPts val="0"/>
              </a:spcBef>
              <a:spcAft>
                <a:spcPts val="0"/>
              </a:spcAft>
              <a:buSzPts val="1300"/>
              <a:buChar char="●"/>
            </a:pPr>
            <a:r>
              <a:rPr lang="id"/>
              <a:t>Pada kasus ini, kita bisa memberi tahu ke Google Wire, jika kita ingin melakukan binding interface, yaitu memberi tahu untuk sebuah interface akan menggunakan provider dengan tipe apa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Interface</a:t>
            </a:r>
            <a:endParaRPr/>
          </a:p>
        </p:txBody>
      </p:sp>
      <p:pic>
        <p:nvPicPr>
          <p:cNvPr id="473" name="Google Shape;473;p78"/>
          <p:cNvPicPr preferRelativeResize="0"/>
          <p:nvPr/>
        </p:nvPicPr>
        <p:blipFill>
          <a:blip r:embed="rId3">
            <a:alphaModFix/>
          </a:blip>
          <a:stretch>
            <a:fillRect/>
          </a:stretch>
        </p:blipFill>
        <p:spPr>
          <a:xfrm>
            <a:off x="152400" y="2006250"/>
            <a:ext cx="7853512" cy="298485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479" name="Google Shape;479;p79"/>
          <p:cNvPicPr preferRelativeResize="0"/>
          <p:nvPr/>
        </p:nvPicPr>
        <p:blipFill>
          <a:blip r:embed="rId3">
            <a:alphaModFix/>
          </a:blip>
          <a:stretch>
            <a:fillRect/>
          </a:stretch>
        </p:blipFill>
        <p:spPr>
          <a:xfrm>
            <a:off x="152400" y="2006250"/>
            <a:ext cx="8839199" cy="261534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 Salah</a:t>
            </a:r>
            <a:endParaRPr/>
          </a:p>
        </p:txBody>
      </p:sp>
      <p:pic>
        <p:nvPicPr>
          <p:cNvPr id="485" name="Google Shape;485;p80"/>
          <p:cNvPicPr preferRelativeResize="0"/>
          <p:nvPr/>
        </p:nvPicPr>
        <p:blipFill>
          <a:blip r:embed="rId3">
            <a:alphaModFix/>
          </a:blip>
          <a:stretch>
            <a:fillRect/>
          </a:stretch>
        </p:blipFill>
        <p:spPr>
          <a:xfrm>
            <a:off x="152400" y="2006250"/>
            <a:ext cx="8839198" cy="2503937"/>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491" name="Google Shape;491;p81"/>
          <p:cNvPicPr preferRelativeResize="0"/>
          <p:nvPr/>
        </p:nvPicPr>
        <p:blipFill>
          <a:blip r:embed="rId3">
            <a:alphaModFix/>
          </a:blip>
          <a:stretch>
            <a:fillRect/>
          </a:stretch>
        </p:blipFill>
        <p:spPr>
          <a:xfrm>
            <a:off x="152400" y="2006250"/>
            <a:ext cx="8839199" cy="286008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8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Struct Provider</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Struct Provider</a:t>
            </a:r>
            <a:endParaRPr/>
          </a:p>
        </p:txBody>
      </p:sp>
      <p:sp>
        <p:nvSpPr>
          <p:cNvPr id="502" name="Google Shape;502;p8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juga bisa membuat Struct Provider, yaitu Struct yang bisa kita jadikan sebagai Provider</a:t>
            </a:r>
            <a:endParaRPr/>
          </a:p>
          <a:p>
            <a:pPr indent="-311150" lvl="0" marL="457200" rtl="0" algn="l">
              <a:spcBef>
                <a:spcPts val="0"/>
              </a:spcBef>
              <a:spcAft>
                <a:spcPts val="0"/>
              </a:spcAft>
              <a:buSzPts val="1300"/>
              <a:buChar char="●"/>
            </a:pPr>
            <a:r>
              <a:rPr lang="id"/>
              <a:t>Secara otomatis Struct yang kita sebutkan akan menjadi Provider</a:t>
            </a:r>
            <a:endParaRPr/>
          </a:p>
          <a:p>
            <a:pPr indent="-311150" lvl="0" marL="457200" rtl="0" algn="l">
              <a:spcBef>
                <a:spcPts val="0"/>
              </a:spcBef>
              <a:spcAft>
                <a:spcPts val="0"/>
              </a:spcAft>
              <a:buSzPts val="1300"/>
              <a:buChar char="●"/>
            </a:pPr>
            <a:r>
              <a:rPr lang="id"/>
              <a:t>Dan kita juga bisa melakukan dependency injection terhadap field yang terdapat didalam Struct tersebut, kita cukup menyebutkan field mana yang akan di inject, atau jika ingin melakukan injection ke semua field, kita bisa gunakan karakter * (bintang)</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508" name="Google Shape;508;p84"/>
          <p:cNvPicPr preferRelativeResize="0"/>
          <p:nvPr/>
        </p:nvPicPr>
        <p:blipFill>
          <a:blip r:embed="rId3">
            <a:alphaModFix/>
          </a:blip>
          <a:stretch>
            <a:fillRect/>
          </a:stretch>
        </p:blipFill>
        <p:spPr>
          <a:xfrm>
            <a:off x="152400" y="2006250"/>
            <a:ext cx="4066858" cy="2984850"/>
          </a:xfrm>
          <a:prstGeom prst="rect">
            <a:avLst/>
          </a:prstGeom>
          <a:noFill/>
          <a:ln>
            <a:noFill/>
          </a:ln>
        </p:spPr>
      </p:pic>
      <p:pic>
        <p:nvPicPr>
          <p:cNvPr id="509" name="Google Shape;509;p84"/>
          <p:cNvPicPr preferRelativeResize="0"/>
          <p:nvPr/>
        </p:nvPicPr>
        <p:blipFill>
          <a:blip r:embed="rId4">
            <a:alphaModFix/>
          </a:blip>
          <a:stretch>
            <a:fillRect/>
          </a:stretch>
        </p:blipFill>
        <p:spPr>
          <a:xfrm>
            <a:off x="4371658" y="2006250"/>
            <a:ext cx="3921954" cy="29848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 Provider</a:t>
            </a:r>
            <a:endParaRPr/>
          </a:p>
        </p:txBody>
      </p:sp>
      <p:pic>
        <p:nvPicPr>
          <p:cNvPr id="515" name="Google Shape;515;p85"/>
          <p:cNvPicPr preferRelativeResize="0"/>
          <p:nvPr/>
        </p:nvPicPr>
        <p:blipFill>
          <a:blip r:embed="rId3">
            <a:alphaModFix/>
          </a:blip>
          <a:stretch>
            <a:fillRect/>
          </a:stretch>
        </p:blipFill>
        <p:spPr>
          <a:xfrm>
            <a:off x="152400" y="2006250"/>
            <a:ext cx="2568275" cy="1428050"/>
          </a:xfrm>
          <a:prstGeom prst="rect">
            <a:avLst/>
          </a:prstGeom>
          <a:noFill/>
          <a:ln>
            <a:noFill/>
          </a:ln>
        </p:spPr>
      </p:pic>
      <p:pic>
        <p:nvPicPr>
          <p:cNvPr id="516" name="Google Shape;516;p85"/>
          <p:cNvPicPr preferRelativeResize="0"/>
          <p:nvPr/>
        </p:nvPicPr>
        <p:blipFill>
          <a:blip r:embed="rId4">
            <a:alphaModFix/>
          </a:blip>
          <a:stretch>
            <a:fillRect/>
          </a:stretch>
        </p:blipFill>
        <p:spPr>
          <a:xfrm>
            <a:off x="2873075" y="2006250"/>
            <a:ext cx="6118524" cy="2598777"/>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8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Binding Values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Binding Values</a:t>
            </a:r>
            <a:endParaRPr/>
          </a:p>
        </p:txBody>
      </p:sp>
      <p:sp>
        <p:nvSpPr>
          <p:cNvPr id="527" name="Google Shape;527;p8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dimana kita ingin melakukan dependency injection terhadap value yang sudah ada, tanpa harus membuat Provider terlebih dahulu</a:t>
            </a:r>
            <a:endParaRPr/>
          </a:p>
          <a:p>
            <a:pPr indent="-311150" lvl="0" marL="457200" rtl="0" algn="l">
              <a:spcBef>
                <a:spcPts val="0"/>
              </a:spcBef>
              <a:spcAft>
                <a:spcPts val="0"/>
              </a:spcAft>
              <a:buSzPts val="1300"/>
              <a:buChar char="●"/>
            </a:pPr>
            <a:r>
              <a:rPr lang="id"/>
              <a:t>Untuk kasus seperti, kita bisa langsung sebutkan value dari objectnya, tanpa menggunakan Provider</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533" name="Google Shape;533;p88"/>
          <p:cNvPicPr preferRelativeResize="0"/>
          <p:nvPr/>
        </p:nvPicPr>
        <p:blipFill>
          <a:blip r:embed="rId3">
            <a:alphaModFix/>
          </a:blip>
          <a:stretch>
            <a:fillRect/>
          </a:stretch>
        </p:blipFill>
        <p:spPr>
          <a:xfrm>
            <a:off x="152400" y="2006250"/>
            <a:ext cx="8578409" cy="29848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Interface Value</a:t>
            </a:r>
            <a:endParaRPr/>
          </a:p>
        </p:txBody>
      </p:sp>
      <p:sp>
        <p:nvSpPr>
          <p:cNvPr id="539" name="Google Shape;539;p8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Seperti di awal sudah dijelaskan, bahkan Google Wire akan melakukan dependency injection sesuai tipe data Provider nya</a:t>
            </a:r>
            <a:endParaRPr/>
          </a:p>
          <a:p>
            <a:pPr indent="-311150" lvl="0" marL="457200" rtl="0" algn="l">
              <a:spcBef>
                <a:spcPts val="0"/>
              </a:spcBef>
              <a:spcAft>
                <a:spcPts val="0"/>
              </a:spcAft>
              <a:buSzPts val="1300"/>
              <a:buChar char="●"/>
            </a:pPr>
            <a:r>
              <a:rPr lang="id"/>
              <a:t>Pada kasus jika kita ingin menggunakan value berupa Interface, maka kita perlu melakukan Interface Binding seperti yang sudah dibahas</a:t>
            </a:r>
            <a:endParaRPr/>
          </a:p>
          <a:p>
            <a:pPr indent="-311150" lvl="0" marL="457200" rtl="0" algn="l">
              <a:spcBef>
                <a:spcPts val="0"/>
              </a:spcBef>
              <a:spcAft>
                <a:spcPts val="0"/>
              </a:spcAft>
              <a:buSzPts val="1300"/>
              <a:buChar char="●"/>
            </a:pPr>
            <a:r>
              <a:rPr lang="id"/>
              <a:t>Atau ada cara yang lebih mudah, kita bisa binding value sekaligus menyebutkan interface yang digunakan oleh value tersebut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 Interface Value</a:t>
            </a:r>
            <a:endParaRPr/>
          </a:p>
        </p:txBody>
      </p:sp>
      <p:pic>
        <p:nvPicPr>
          <p:cNvPr id="545" name="Google Shape;545;p90"/>
          <p:cNvPicPr preferRelativeResize="0"/>
          <p:nvPr/>
        </p:nvPicPr>
        <p:blipFill>
          <a:blip r:embed="rId3">
            <a:alphaModFix/>
          </a:blip>
          <a:stretch>
            <a:fillRect/>
          </a:stretch>
        </p:blipFill>
        <p:spPr>
          <a:xfrm>
            <a:off x="152400" y="2006250"/>
            <a:ext cx="8839202" cy="1661057"/>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9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Struct Field Provider</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Struct Field Provider</a:t>
            </a:r>
            <a:endParaRPr/>
          </a:p>
        </p:txBody>
      </p:sp>
      <p:sp>
        <p:nvSpPr>
          <p:cNvPr id="556" name="Google Shape;556;p9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Google Wire juga mendukung pembuatan Provider dari Field sebuah Struct</a:t>
            </a:r>
            <a:endParaRPr/>
          </a:p>
          <a:p>
            <a:pPr indent="-311150" lvl="0" marL="457200" rtl="0" algn="l">
              <a:spcBef>
                <a:spcPts val="0"/>
              </a:spcBef>
              <a:spcAft>
                <a:spcPts val="0"/>
              </a:spcAft>
              <a:buSzPts val="1300"/>
              <a:buChar char="●"/>
            </a:pPr>
            <a:r>
              <a:rPr lang="id"/>
              <a:t>Misal pada kondisi kita ingin menggunakan sebuah Field dari Struct untuk dijadikan dependency untuk Provider lain</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562" name="Google Shape;562;p93"/>
          <p:cNvPicPr preferRelativeResize="0"/>
          <p:nvPr/>
        </p:nvPicPr>
        <p:blipFill>
          <a:blip r:embed="rId3">
            <a:alphaModFix/>
          </a:blip>
          <a:stretch>
            <a:fillRect/>
          </a:stretch>
        </p:blipFill>
        <p:spPr>
          <a:xfrm>
            <a:off x="152400" y="2006250"/>
            <a:ext cx="7132981" cy="29848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568" name="Google Shape;568;p94"/>
          <p:cNvPicPr preferRelativeResize="0"/>
          <p:nvPr/>
        </p:nvPicPr>
        <p:blipFill>
          <a:blip r:embed="rId3">
            <a:alphaModFix/>
          </a:blip>
          <a:stretch>
            <a:fillRect/>
          </a:stretch>
        </p:blipFill>
        <p:spPr>
          <a:xfrm>
            <a:off x="152400" y="2006250"/>
            <a:ext cx="8839202" cy="2325481"/>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Cleanup Function</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Cleanup Function</a:t>
            </a:r>
            <a:endParaRPr/>
          </a:p>
        </p:txBody>
      </p:sp>
      <p:sp>
        <p:nvSpPr>
          <p:cNvPr id="579" name="Google Shape;579;p9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Provider membuat object yang membutuhkan proses cleanup (pembersihan) setelah object dibuat, maka pada provider kita bisa mengembalikan closure</a:t>
            </a:r>
            <a:endParaRPr/>
          </a:p>
          <a:p>
            <a:pPr indent="-311150" lvl="0" marL="457200" rtl="0" algn="l">
              <a:spcBef>
                <a:spcPts val="0"/>
              </a:spcBef>
              <a:spcAft>
                <a:spcPts val="0"/>
              </a:spcAft>
              <a:buSzPts val="1300"/>
              <a:buChar char="●"/>
            </a:pPr>
            <a:r>
              <a:rPr lang="id"/>
              <a:t>Closure secara otomatis akan dipanggil dalam proses cleanup oleh Google Wire</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 File</a:t>
            </a:r>
            <a:endParaRPr/>
          </a:p>
        </p:txBody>
      </p:sp>
      <p:pic>
        <p:nvPicPr>
          <p:cNvPr id="585" name="Google Shape;585;p97"/>
          <p:cNvPicPr preferRelativeResize="0"/>
          <p:nvPr/>
        </p:nvPicPr>
        <p:blipFill>
          <a:blip r:embed="rId3">
            <a:alphaModFix/>
          </a:blip>
          <a:stretch>
            <a:fillRect/>
          </a:stretch>
        </p:blipFill>
        <p:spPr>
          <a:xfrm>
            <a:off x="152400" y="2006250"/>
            <a:ext cx="7375306" cy="2984849"/>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 Connection</a:t>
            </a:r>
            <a:endParaRPr/>
          </a:p>
        </p:txBody>
      </p:sp>
      <p:pic>
        <p:nvPicPr>
          <p:cNvPr id="591" name="Google Shape;591;p98"/>
          <p:cNvPicPr preferRelativeResize="0"/>
          <p:nvPr/>
        </p:nvPicPr>
        <p:blipFill>
          <a:blip r:embed="rId3">
            <a:alphaModFix/>
          </a:blip>
          <a:stretch>
            <a:fillRect/>
          </a:stretch>
        </p:blipFill>
        <p:spPr>
          <a:xfrm>
            <a:off x="152400" y="2006250"/>
            <a:ext cx="7555149" cy="29848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597" name="Google Shape;597;p99"/>
          <p:cNvPicPr preferRelativeResize="0"/>
          <p:nvPr/>
        </p:nvPicPr>
        <p:blipFill>
          <a:blip r:embed="rId3">
            <a:alphaModFix/>
          </a:blip>
          <a:stretch>
            <a:fillRect/>
          </a:stretch>
        </p:blipFill>
        <p:spPr>
          <a:xfrm>
            <a:off x="152400" y="2006250"/>
            <a:ext cx="8839201" cy="1602712"/>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10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Dependency Injection di </a:t>
            </a:r>
            <a:endParaRPr/>
          </a:p>
          <a:p>
            <a:pPr indent="0" lvl="0" marL="0" rtl="0" algn="l">
              <a:spcBef>
                <a:spcPts val="0"/>
              </a:spcBef>
              <a:spcAft>
                <a:spcPts val="0"/>
              </a:spcAft>
              <a:buNone/>
            </a:pPr>
            <a:r>
              <a:rPr lang="id"/>
              <a:t>RESTful API</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0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613" name="Google Shape;613;p10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Belajar Framework dan Library Go-Lang</a:t>
            </a:r>
            <a:endParaRPr/>
          </a:p>
          <a:p>
            <a:pPr indent="-311150" lvl="0" marL="457200" rtl="0" algn="l">
              <a:spcBef>
                <a:spcPts val="0"/>
              </a:spcBef>
              <a:spcAft>
                <a:spcPts val="0"/>
              </a:spcAft>
              <a:buSzPts val="1300"/>
              <a:buChar char="●"/>
            </a:pPr>
            <a:r>
              <a:rPr lang="id"/>
              <a:t>Studi Kasus Membuat Aplikasi menggunakan Go-Lang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