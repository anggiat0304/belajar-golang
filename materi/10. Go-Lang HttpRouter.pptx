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y="5143500" cx="9144000"/>
  <p:notesSz cx="6858000" cy="9144000"/>
  <p:embeddedFontLst>
    <p:embeddedFont>
      <p:font typeface="Raleway"/>
      <p:regular r:id="rId50"/>
      <p:bold r:id="rId51"/>
      <p:italic r:id="rId52"/>
      <p:boldItalic r:id="rId53"/>
    </p:embeddedFont>
    <p:embeddedFont>
      <p:font typeface="Lato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95DCC2-5798-4E8D-8BB3-1832D60C02B4}">
  <a:tblStyle styleId="{3695DCC2-5798-4E8D-8BB3-1832D60C02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Raleway-bold.fntdata"/><Relationship Id="rId50" Type="http://schemas.openxmlformats.org/officeDocument/2006/relationships/font" Target="fonts/Raleway-regular.fntdata"/><Relationship Id="rId53" Type="http://schemas.openxmlformats.org/officeDocument/2006/relationships/font" Target="fonts/Raleway-boldItalic.fntdata"/><Relationship Id="rId52" Type="http://schemas.openxmlformats.org/officeDocument/2006/relationships/font" Target="fonts/Raleway-italic.fntdata"/><Relationship Id="rId11" Type="http://schemas.openxmlformats.org/officeDocument/2006/relationships/slide" Target="slides/slide4.xml"/><Relationship Id="rId55" Type="http://schemas.openxmlformats.org/officeDocument/2006/relationships/font" Target="fonts/Lato-bold.fntdata"/><Relationship Id="rId10" Type="http://schemas.openxmlformats.org/officeDocument/2006/relationships/slide" Target="slides/slide3.xml"/><Relationship Id="rId54" Type="http://schemas.openxmlformats.org/officeDocument/2006/relationships/font" Target="fonts/Lato-regular.fntdata"/><Relationship Id="rId13" Type="http://schemas.openxmlformats.org/officeDocument/2006/relationships/slide" Target="slides/slide6.xml"/><Relationship Id="rId57" Type="http://schemas.openxmlformats.org/officeDocument/2006/relationships/font" Target="fonts/Lato-boldItalic.fntdata"/><Relationship Id="rId12" Type="http://schemas.openxmlformats.org/officeDocument/2006/relationships/slide" Target="slides/slide5.xml"/><Relationship Id="rId56" Type="http://schemas.openxmlformats.org/officeDocument/2006/relationships/font" Target="fonts/Lato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e0566e8a90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e0566e8a90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e0566e8a90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e0566e8a90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e0566e8a90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e0566e8a90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e0566e8a90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e0566e8a90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e0566e8a90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e0566e8a90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e0566e8a90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e0566e8a90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e0566e8a90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e0566e8a90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e0566e8a90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e0566e8a90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e0566e8a90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e0566e8a90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e0566e8a90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e0566e8a90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e0566e8a90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e0566e8a90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e0566e8a90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e0566e8a90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e0566e8a90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e0566e8a90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e0566e8a90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e0566e8a90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e0566e8a90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e0566e8a90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e0566e8a90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e0566e8a90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e0566e8a90_0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e0566e8a90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e0566e8a90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e0566e8a90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e0566e8a90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e0566e8a90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e0566e8a90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e0566e8a90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e0566e8a90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e0566e8a90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e0566e8a90_0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e0566e8a90_0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e0566e8a90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e0566e8a90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e0566e8a90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e0566e8a90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e0566e8a90_0_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e0566e8a90_0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e0566e8a90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e0566e8a90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e0566e8a90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e0566e8a90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e0566e8a90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e0566e8a90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e0566e8a90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e0566e8a90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e0566e8a90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e0566e8a90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e0566e8a90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e0566e8a90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e0566e8a90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e0566e8a90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e0566e8a90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e0566e8a90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e0566e8a90_0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e0566e8a90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e0566e8a90_0_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e0566e8a90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e0566e8a90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e0566e8a90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e0566e8a90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e0566e8a90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e0566e8a90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e0566e8a90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e0566e8a90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e0566e8a90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e9d356ad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e9d356ad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e0566e8a90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e0566e8a90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6" name="Google Shape;96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1" name="Google Shape;111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0" name="Google Shape;120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7" name="Google Shape;127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34" name="Google Shape;134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1" name="Google Shape;141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5" name="Google Shape;145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52" name="Google Shape;152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.me/khannedy" TargetMode="External"/><Relationship Id="rId4" Type="http://schemas.openxmlformats.org/officeDocument/2006/relationships/hyperlink" Target="https://facebook.com/ProgrammerZamanNow" TargetMode="External"/><Relationship Id="rId5" Type="http://schemas.openxmlformats.org/officeDocument/2006/relationships/hyperlink" Target="https://www.instagram.com/programmerzamannow" TargetMode="External"/><Relationship Id="rId6" Type="http://schemas.openxmlformats.org/officeDocument/2006/relationships/hyperlink" Target="https://www.youtube.com/c/ProgrammerZamanNow" TargetMode="External"/><Relationship Id="rId7" Type="http://schemas.openxmlformats.org/officeDocument/2006/relationships/hyperlink" Target="https://t.me/ProgrammerZamanNow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julienschmidt/httprouter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Go-Lang HttpRouter</a:t>
            </a:r>
            <a:endParaRPr/>
          </a:p>
        </p:txBody>
      </p:sp>
      <p:sp>
        <p:nvSpPr>
          <p:cNvPr id="164" name="Google Shape;164;p2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6"/>
          <p:cNvPicPr preferRelativeResize="0"/>
          <p:nvPr/>
        </p:nvPicPr>
        <p:blipFill rotWithShape="1">
          <a:blip r:embed="rId3">
            <a:alphaModFix/>
          </a:blip>
          <a:srcRect b="0" l="0" r="0" t="23717"/>
          <a:stretch/>
        </p:blipFill>
        <p:spPr>
          <a:xfrm>
            <a:off x="1800" y="487410"/>
            <a:ext cx="9144003" cy="4656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FFFFFF"/>
                </a:solidFill>
              </a:rPr>
              <a:t>Eko Kurniawan Khannedy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729450" y="2078875"/>
            <a:ext cx="5366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Technical architect at one of the biggest ecommerce company in Indonesia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10+ years experiences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www.programmerzamannow.com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youtube.com/c/ProgrammerZamanNow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: </a:t>
            </a:r>
            <a:r>
              <a:rPr lang="id" u="sng">
                <a:solidFill>
                  <a:schemeClr val="hlink"/>
                </a:solidFill>
                <a:hlinkClick r:id="rId3"/>
              </a:rPr>
              <a:t>@khannedy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Facebook : </a:t>
            </a:r>
            <a:r>
              <a:rPr lang="id" u="sng">
                <a:solidFill>
                  <a:schemeClr val="hlink"/>
                </a:solidFill>
                <a:hlinkClick r:id="rId4"/>
              </a:rPr>
              <a:t>fb.com/ProgrammerZamanNow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Instagram : </a:t>
            </a:r>
            <a:r>
              <a:rPr lang="id" u="sng">
                <a:solidFill>
                  <a:schemeClr val="hlink"/>
                </a:solidFill>
                <a:hlinkClick r:id="rId5"/>
              </a:rPr>
              <a:t>instagram.com/programmerzamannow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Youtube : </a:t>
            </a:r>
            <a:r>
              <a:rPr lang="id" u="sng">
                <a:solidFill>
                  <a:schemeClr val="hlink"/>
                </a:solidFill>
                <a:hlinkClick r:id="rId6"/>
              </a:rPr>
              <a:t>youtube.com/c/ProgrammerZamanNow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Channel : </a:t>
            </a:r>
            <a:r>
              <a:rPr lang="id" u="sng">
                <a:solidFill>
                  <a:schemeClr val="hlink"/>
                </a:solidFill>
                <a:hlinkClick r:id="rId7"/>
              </a:rPr>
              <a:t>t.me/ProgrammerZamanNow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Email : echo.khannedy@gmail.com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Sebelum Belajar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Dasar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Modules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Unit Test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Goroutines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Embed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Web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Agenda</a:t>
            </a:r>
            <a:endParaRPr/>
          </a:p>
        </p:txBody>
      </p:sp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Pengenalan HttpRouter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Router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Params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Serve Files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Error Handler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Dan lain-lain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Pengenalan HttpRouter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Pengenalan HttpRouter</a:t>
            </a:r>
            <a:endParaRPr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HttpRouter merupakan salah satu OpenSource Library yang populer untuk Http Handler di Go-Lang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HttpRouter terkenal dengan kecepatannya dan juga sangat minimalis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Hal ini dikarenakan HttpRouter hanya memiliki fitur untuk routing saja, tidak memiliki fitur apapun selain itu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https://github.com/julienschmidt/httprouter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 HttpRouter ke Project</a:t>
            </a:r>
            <a:endParaRPr/>
          </a:p>
        </p:txBody>
      </p:sp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go get github.com/julienschmidt/httprouter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id"/>
              <a:t>go get github.com/stretchr/testify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Go Module</a:t>
            </a:r>
            <a:endParaRPr/>
          </a:p>
        </p:txBody>
      </p:sp>
      <p:pic>
        <p:nvPicPr>
          <p:cNvPr id="212" name="Google Shape;21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883066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Router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Router</a:t>
            </a:r>
            <a:endParaRPr/>
          </a:p>
        </p:txBody>
      </p:sp>
      <p:sp>
        <p:nvSpPr>
          <p:cNvPr id="223" name="Google Shape;223;p3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Inti dari library HttpRouter adalah struct Router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Router ini merupakan implementasi dari http.Handler, sehingga kita bisa dengan mudah menambahkan ke dalam http.Server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Router, kita bisa menggunakan function httprouter.New(), yang akan mengembalikan Router pointer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Router</a:t>
            </a:r>
            <a:endParaRPr/>
          </a:p>
        </p:txBody>
      </p:sp>
      <p:pic>
        <p:nvPicPr>
          <p:cNvPr id="229" name="Google Shape;22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075894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HTTP Method</a:t>
            </a:r>
            <a:endParaRPr/>
          </a:p>
        </p:txBody>
      </p:sp>
      <p:sp>
        <p:nvSpPr>
          <p:cNvPr id="235" name="Google Shape;235;p3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Router mirip dengan ServeMux, dimana kita bisa menambahkan route ke dalam Router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Kelebihan dibandingkan dengan ServeMux adalah, pada Router, kita bisa menentukan HTTP Method yang ingin kita gunakan, misal GET, POST, PUT, dan lain-lain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Cara menambahkan route ke dalam Router adalah gunakan function yang sama dengan HTTP Method nya, misal router.GET(), router.POST(), dan lain-lain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httprouter.Handle</a:t>
            </a:r>
            <a:endParaRPr/>
          </a:p>
        </p:txBody>
      </p:sp>
      <p:sp>
        <p:nvSpPr>
          <p:cNvPr id="241" name="Google Shape;241;p3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menggunakan ServeMux, ketika menambah route, kita bisa menambahkan http.Handler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Berbeda dengan Router, pada Router kita tidak menggunakan http.Handler lagi, melainkan menggunakan type httprouter.Handle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Perbedaan dengan http.Handler adalah, pada httprouter.Handle, terdapat parameter ke tiga yaitu Params, yang akan kita bahas nanti di chapter tersendiri</a:t>
            </a:r>
            <a:endParaRPr/>
          </a:p>
        </p:txBody>
      </p:sp>
      <p:pic>
        <p:nvPicPr>
          <p:cNvPr id="242" name="Google Shape;24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00729"/>
            <a:ext cx="9143999" cy="1569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Route</a:t>
            </a:r>
            <a:endParaRPr/>
          </a:p>
        </p:txBody>
      </p:sp>
      <p:pic>
        <p:nvPicPr>
          <p:cNvPr id="248" name="Google Shape;24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069818" cy="29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Params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Params</a:t>
            </a:r>
            <a:endParaRPr/>
          </a:p>
        </p:txBody>
      </p:sp>
      <p:sp>
        <p:nvSpPr>
          <p:cNvPr id="259" name="Google Shape;259;p4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httprouter.Handle memiliki parameter yang ketiga, yaitu Params. Untuk apa kegunaan Params?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Params merupakan tempat untuk menyimpan parameter yang dikirim dari client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Params ini bukan query parameter, melainkan parameter di URL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Kadang kita butuh membuat URL yang tidak fix, alias bisa berubah-ubah, misal /products/1, /products/2, dan seterusnya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ServeMux tidak mendukung hal tersebut, namun Router mendukung hal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Parameter yang dinamis yang terdapat di URL, secara otomatis dikumpulkan di Params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Namun, agar Router tahu, kita harus memberi tahu ketika menambahkan Route, dibagian mana kita akan buat URL path nya menjadi dinamis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Params</a:t>
            </a:r>
            <a:endParaRPr/>
          </a:p>
        </p:txBody>
      </p:sp>
      <p:pic>
        <p:nvPicPr>
          <p:cNvPr id="265" name="Google Shape;26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877627" cy="29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Router Pattern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Router Pattern</a:t>
            </a:r>
            <a:endParaRPr/>
          </a:p>
        </p:txBody>
      </p:sp>
      <p:sp>
        <p:nvSpPr>
          <p:cNvPr id="276" name="Google Shape;276;p4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Sekarang kita sudah tahu bahwa dengan menggunakan Router, kita bisa menambah params di URL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Sekarang pertanyaannya, bagaimana pattern (</a:t>
            </a:r>
            <a:r>
              <a:rPr lang="id"/>
              <a:t>pola</a:t>
            </a:r>
            <a:r>
              <a:rPr lang="id"/>
              <a:t>) pembuatan parameter nya?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Named Parameter</a:t>
            </a:r>
            <a:endParaRPr/>
          </a:p>
        </p:txBody>
      </p:sp>
      <p:sp>
        <p:nvSpPr>
          <p:cNvPr id="282" name="Google Shape;282;p4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Named parameter adalah pola pembuatan parameter dengan menggunakan nama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Setiap nama parameter harus diawali dengan : (titik dua), lalu diikuti dengan nama parameter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Contoh, jika kita memiliki pattern seperti ini :</a:t>
            </a:r>
            <a:endParaRPr/>
          </a:p>
        </p:txBody>
      </p:sp>
      <p:graphicFrame>
        <p:nvGraphicFramePr>
          <p:cNvPr id="283" name="Google Shape;283;p45"/>
          <p:cNvGraphicFramePr/>
          <p:nvPr/>
        </p:nvGraphicFramePr>
        <p:xfrm>
          <a:off x="954300" y="2929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{3695DCC2-5798-4E8D-8BB3-1832D60C02B4}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Pattern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/user/:user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/user/eko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match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/user/you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match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/user/eko/profile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no match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/user/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no match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Catch All Parameter</a:t>
            </a:r>
            <a:endParaRPr/>
          </a:p>
        </p:txBody>
      </p:sp>
      <p:sp>
        <p:nvSpPr>
          <p:cNvPr id="289" name="Google Shape;289;p4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Selain named parameter, ada juga yang bernama catch all parameter, yaitu menangkap semua parameter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Catch all parameter harus diawali dengan * (bintang), lalu diikuti dengan nama parameter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Catch all parameter harus berada di posisi akhir URL</a:t>
            </a:r>
            <a:endParaRPr/>
          </a:p>
        </p:txBody>
      </p:sp>
      <p:graphicFrame>
        <p:nvGraphicFramePr>
          <p:cNvPr id="290" name="Google Shape;290;p46"/>
          <p:cNvGraphicFramePr/>
          <p:nvPr/>
        </p:nvGraphicFramePr>
        <p:xfrm>
          <a:off x="954300" y="324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{3695DCC2-5798-4E8D-8BB3-1832D60C02B4}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Pattern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/src/*filepath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/src/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no </a:t>
                      </a:r>
                      <a:r>
                        <a:rPr lang="id"/>
                        <a:t>match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/src/somefile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match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/src/subdir/somefile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match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Named Parameter</a:t>
            </a:r>
            <a:endParaRPr/>
          </a:p>
        </p:txBody>
      </p:sp>
      <p:pic>
        <p:nvPicPr>
          <p:cNvPr id="296" name="Google Shape;29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866057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Catch All Parameter</a:t>
            </a:r>
            <a:endParaRPr/>
          </a:p>
        </p:txBody>
      </p:sp>
      <p:pic>
        <p:nvPicPr>
          <p:cNvPr id="302" name="Google Shape;30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572341" cy="29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Serve File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Serve File</a:t>
            </a:r>
            <a:endParaRPr/>
          </a:p>
        </p:txBody>
      </p:sp>
      <p:sp>
        <p:nvSpPr>
          <p:cNvPr id="313" name="Google Shape;313;p5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Pada materi Go-Lang Web, kita sudah pernah membahas tentang Serve File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Pada Router pun, mendukung serve static file menggunakan function ServeFiles(Path, FileSystem)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Dimana pada Path, kita harus menggunakan Catch All Parameter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Sedangkan pada FileSystem kita bisa melakukan manual load dari folder atau menggunakan golang embed, seperti yang pernah kita bahas di materi Go-Lang Web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Serve File</a:t>
            </a:r>
            <a:endParaRPr/>
          </a:p>
        </p:txBody>
      </p:sp>
      <p:pic>
        <p:nvPicPr>
          <p:cNvPr id="319" name="Google Shape;31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1" cy="2763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Panic Handler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Panic Handler</a:t>
            </a:r>
            <a:endParaRPr/>
          </a:p>
        </p:txBody>
      </p:sp>
      <p:sp>
        <p:nvSpPr>
          <p:cNvPr id="330" name="Google Shape;330;p5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Apa yang terjadi jika terjadi panic pada logic Handler yang kita buat?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Secara otomatis akan terjadi error, dan web akan berhenti mengembalikan response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Kadang saat terjadi panic, kita ingin melakukan sesuatu, misal memberitahu jika terjadi kesalahan di web, atau bahkan mengirim informasi log kesalahan yang terjadi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Sebelumnya, seperti yang sudah kita bahas di materi Go-Lang Web, jika kita ingin menangani panic, kita harus membuat Middleware khusus secara manual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di Router, sudah disediakan untuk menangani panic, caranya dengan menggunakan attribute PanicHandler : func(http.ResponseWriter, *http.Request, interface{})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Panic Handler</a:t>
            </a:r>
            <a:endParaRPr/>
          </a:p>
        </p:txBody>
      </p:sp>
      <p:pic>
        <p:nvPicPr>
          <p:cNvPr id="336" name="Google Shape;33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1" cy="2730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Not Found Handler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Not Found Handler</a:t>
            </a:r>
            <a:endParaRPr/>
          </a:p>
        </p:txBody>
      </p:sp>
      <p:sp>
        <p:nvSpPr>
          <p:cNvPr id="347" name="Google Shape;347;p5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Selain panic handler, Router juga memiliki not found handler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Not found handler adalah handler yang dieksekusi ketika client mencoba melakukan request URL yang memang tidak terdapat di Router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Secara default, jika tidak ada route tidak ditemukan, Router akan melanjutkan request ke http.NotFound, namun kita bisa mengubah 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Caranya dengan mengubah router.NotFound = http.Handler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Not Found Handler</a:t>
            </a:r>
            <a:endParaRPr/>
          </a:p>
        </p:txBody>
      </p:sp>
      <p:pic>
        <p:nvPicPr>
          <p:cNvPr id="353" name="Google Shape;35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914668" cy="298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Method Not Allowed Handler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Method Not Allowed Handler</a:t>
            </a:r>
            <a:endParaRPr/>
          </a:p>
        </p:txBody>
      </p:sp>
      <p:sp>
        <p:nvSpPr>
          <p:cNvPr id="364" name="Google Shape;364;p5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menggunakan ServeMux, kita tidak bisa menentukan HTTP Method apa yang digunakan untuk Handler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pada Router, kita bisa menentukan HTTP Method yang ingin kita gunakan, lantas apa yang terjadi jika client tidak mengirim HTTP Method sesuai dengan yang kita tentukan?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Maka akan terjadi error Method Not Allowed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Secara default, jika terjadi error seperti ini, maka Router akan memanggil function http.Error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Jika kita ingin mengubahnya, kita bisa gunakan router.MethodNotAllowed = http.Handler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Method Not Allowed Handler</a:t>
            </a:r>
            <a:endParaRPr/>
          </a:p>
        </p:txBody>
      </p:sp>
      <p:pic>
        <p:nvPicPr>
          <p:cNvPr id="370" name="Google Shape;37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7" cy="2736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Middleware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Middleware</a:t>
            </a:r>
            <a:endParaRPr/>
          </a:p>
        </p:txBody>
      </p:sp>
      <p:sp>
        <p:nvSpPr>
          <p:cNvPr id="381" name="Google Shape;381;p6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HttpRouter hanyalah library untuk http router saja, tidak ada fitur lain selain router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Dan karena Router merupakan implementasi dari http.Handler, jadi untuk middleware, kita bisa membuat sendiri, seperti yang sudah kita bahas pada course Go-Lang Web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Log Middleware</a:t>
            </a:r>
            <a:endParaRPr/>
          </a:p>
        </p:txBody>
      </p:sp>
      <p:pic>
        <p:nvPicPr>
          <p:cNvPr id="387" name="Google Shape;38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617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Middleware</a:t>
            </a:r>
            <a:endParaRPr/>
          </a:p>
        </p:txBody>
      </p:sp>
      <p:pic>
        <p:nvPicPr>
          <p:cNvPr id="393" name="Google Shape;39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621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  <p:sp>
        <p:nvSpPr>
          <p:cNvPr id="404" name="Google Shape;404;p6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RESTful API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Deployment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Docker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