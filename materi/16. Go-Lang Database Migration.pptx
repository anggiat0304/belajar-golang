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5143500" cx="9144000"/>
  <p:notesSz cx="6858000" cy="9144000"/>
  <p:embeddedFontLst>
    <p:embeddedFont>
      <p:font typeface="Raleway"/>
      <p:regular r:id="rId67"/>
      <p:bold r:id="rId68"/>
      <p:italic r:id="rId69"/>
      <p:boldItalic r:id="rId70"/>
    </p:embeddedFont>
    <p:embeddedFont>
      <p:font typeface="Lato"/>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Lato-italic.fntdata"/><Relationship Id="rId72" Type="http://schemas.openxmlformats.org/officeDocument/2006/relationships/font" Target="fonts/Lato-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Lato-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Lato-regular.fntdata"/><Relationship Id="rId70" Type="http://schemas.openxmlformats.org/officeDocument/2006/relationships/font" Target="fonts/Raleway-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Raleway-bold.fntdata"/><Relationship Id="rId23" Type="http://schemas.openxmlformats.org/officeDocument/2006/relationships/slide" Target="slides/slide17.xml"/><Relationship Id="rId67" Type="http://schemas.openxmlformats.org/officeDocument/2006/relationships/font" Target="fonts/Raleway-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aleway-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5aeebdcd6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5aeebdcd6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5aeebdcd6e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5aeebdcd6e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5aeebdcd6e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5aeebdcd6e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5aeebdcd6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5aeebdcd6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5aeebdcd6e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5aeebdcd6e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576d4f37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576d4f37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576d4f37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576d4f37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5aeebdcd6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5aeebdcd6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576d4f375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576d4f375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576d4f375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576d4f375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576d4f375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576d4f375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576d4f375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576d4f375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576d4f375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576d4f375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576d4f375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576d4f375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576d4f375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576d4f375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576d4f375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576d4f375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576d4f375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576d4f375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576d4f375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576d4f375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576d4f375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576d4f375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576d4f375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576d4f375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576d4f375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576d4f37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576d4f375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576d4f375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576d4f375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576d4f375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576d4f375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576d4f375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576d4f375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576d4f375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576d4f375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576d4f375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576d4f375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576d4f375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576d4f375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576d4f375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576d4f375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576d4f375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576d4f375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576d4f375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576d4f3750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576d4f3750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576d4f375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576d4f375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576d4f375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576d4f375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576d4f375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576d4f375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576d4f3750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576d4f3750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576d4f375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576d4f375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576d4f375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576d4f375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576d4f3750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576d4f375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576d4f375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576d4f375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576d4f375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576d4f375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576d4f3750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576d4f3750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576d4f375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576d4f375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576d4f375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576d4f375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576d4f375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576d4f375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576d4f3750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576d4f375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576d4f3750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576d4f3750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576d4f375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576d4f375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576d4f375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576d4f375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576d4f3750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576d4f3750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576d4f3750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576d4f3750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576d4f3750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576d4f3750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576d4f3750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576d4f3750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576d4f3750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576d4f3750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576d4f375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576d4f375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576d4f375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576d4f375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576d4f375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576d4f375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576d4f3750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576d4f3750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576d4f375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576d4f375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5aeebdcd6e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5aeebdcd6e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github.com/golang-migrate/migrat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hyperlink" Target="https://github.com/ProgrammerZamanNow/belajar-golang-restful-api"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hyperlink" Target="https://github.com/golang-migrate/migrate#database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a:t>
            </a:r>
            <a:endParaRPr/>
          </a:p>
          <a:p>
            <a:pPr indent="0" lvl="0" marL="0" rtl="0" algn="l">
              <a:spcBef>
                <a:spcPts val="0"/>
              </a:spcBef>
              <a:spcAft>
                <a:spcPts val="0"/>
              </a:spcAft>
              <a:buNone/>
            </a:pPr>
            <a:r>
              <a:rPr lang="id"/>
              <a:t>Database Migration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MySQL Database</a:t>
            </a:r>
            <a:endParaRPr/>
          </a:p>
          <a:p>
            <a:pPr indent="-311150" lvl="0" marL="457200" rtl="0" algn="l">
              <a:spcBef>
                <a:spcPts val="0"/>
              </a:spcBef>
              <a:spcAft>
                <a:spcPts val="0"/>
              </a:spcAft>
              <a:buSzPts val="1300"/>
              <a:buChar char="●"/>
            </a:pPr>
            <a:r>
              <a:rPr lang="id"/>
              <a:t>Golang Database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Database Migration</a:t>
            </a:r>
            <a:endParaRPr/>
          </a:p>
          <a:p>
            <a:pPr indent="-311150" lvl="0" marL="457200" rtl="0" algn="l">
              <a:spcBef>
                <a:spcPts val="0"/>
              </a:spcBef>
              <a:spcAft>
                <a:spcPts val="0"/>
              </a:spcAft>
              <a:buSzPts val="1300"/>
              <a:buChar char="●"/>
            </a:pPr>
            <a:r>
              <a:rPr lang="id"/>
              <a:t>Pengenalan Golang Migrate</a:t>
            </a:r>
            <a:endParaRPr/>
          </a:p>
          <a:p>
            <a:pPr indent="-311150" lvl="0" marL="457200" rtl="0" algn="l">
              <a:spcBef>
                <a:spcPts val="0"/>
              </a:spcBef>
              <a:spcAft>
                <a:spcPts val="0"/>
              </a:spcAft>
              <a:buSzPts val="1300"/>
              <a:buChar char="●"/>
            </a:pPr>
            <a:r>
              <a:rPr lang="id"/>
              <a:t>Menginstall Golang Migrate</a:t>
            </a:r>
            <a:endParaRPr/>
          </a:p>
          <a:p>
            <a:pPr indent="-311150" lvl="0" marL="457200" rtl="0" algn="l">
              <a:spcBef>
                <a:spcPts val="0"/>
              </a:spcBef>
              <a:spcAft>
                <a:spcPts val="0"/>
              </a:spcAft>
              <a:buSzPts val="1300"/>
              <a:buChar char="●"/>
            </a:pPr>
            <a:r>
              <a:rPr lang="id"/>
              <a:t>Membuat File Migration</a:t>
            </a:r>
            <a:endParaRPr/>
          </a:p>
          <a:p>
            <a:pPr indent="-311150" lvl="0" marL="457200" rtl="0" algn="l">
              <a:spcBef>
                <a:spcPts val="0"/>
              </a:spcBef>
              <a:spcAft>
                <a:spcPts val="0"/>
              </a:spcAft>
              <a:buSzPts val="1300"/>
              <a:buChar char="●"/>
            </a:pPr>
            <a:r>
              <a:rPr lang="id"/>
              <a:t>Menjalankan Migration</a:t>
            </a:r>
            <a:endParaRPr/>
          </a:p>
          <a:p>
            <a:pPr indent="-311150" lvl="0" marL="457200" rtl="0" algn="l">
              <a:spcBef>
                <a:spcPts val="0"/>
              </a:spcBef>
              <a:spcAft>
                <a:spcPts val="0"/>
              </a:spcAft>
              <a:buSzPts val="1300"/>
              <a:buChar char="●"/>
            </a:pPr>
            <a:r>
              <a:rPr lang="id"/>
              <a:t>Rollback Migration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Database Migration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Database Migration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kebanyakan aplikasi yang dibuat akan membutuhkan database</a:t>
            </a:r>
            <a:endParaRPr/>
          </a:p>
          <a:p>
            <a:pPr indent="-311150" lvl="0" marL="457200" rtl="0" algn="l">
              <a:spcBef>
                <a:spcPts val="0"/>
              </a:spcBef>
              <a:spcAft>
                <a:spcPts val="0"/>
              </a:spcAft>
              <a:buSzPts val="1300"/>
              <a:buChar char="●"/>
            </a:pPr>
            <a:r>
              <a:rPr lang="id"/>
              <a:t>Saat aplikasi berjalan, biasanya database sudah siap digunakan, artinya table, kolom dan semua relasinya sudah dibuat di awal sebelum aplikasi dijalankan</a:t>
            </a:r>
            <a:endParaRPr/>
          </a:p>
          <a:p>
            <a:pPr indent="-311150" lvl="0" marL="457200" rtl="0" algn="l">
              <a:spcBef>
                <a:spcPts val="0"/>
              </a:spcBef>
              <a:spcAft>
                <a:spcPts val="0"/>
              </a:spcAft>
              <a:buSzPts val="1300"/>
              <a:buChar char="●"/>
            </a:pPr>
            <a:r>
              <a:rPr lang="id"/>
              <a:t>Apa yang terjadi ketika misal pada saat aplikasi sudah berjalan, kita perlu menambah fitur baru, lalu butuh mengubah struktur table di database?</a:t>
            </a:r>
            <a:endParaRPr/>
          </a:p>
          <a:p>
            <a:pPr indent="-311150" lvl="0" marL="457200" rtl="0" algn="l">
              <a:spcBef>
                <a:spcPts val="0"/>
              </a:spcBef>
              <a:spcAft>
                <a:spcPts val="0"/>
              </a:spcAft>
              <a:buSzPts val="1300"/>
              <a:buChar char="●"/>
            </a:pPr>
            <a:r>
              <a:rPr lang="id"/>
              <a:t>Biasanya kita akan mengubahnya di database langsung, lalu melakukan perubahan kode program</a:t>
            </a:r>
            <a:endParaRPr/>
          </a:p>
          <a:p>
            <a:pPr indent="-311150" lvl="0" marL="457200" rtl="0" algn="l">
              <a:spcBef>
                <a:spcPts val="0"/>
              </a:spcBef>
              <a:spcAft>
                <a:spcPts val="0"/>
              </a:spcAft>
              <a:buSzPts val="1300"/>
              <a:buChar char="●"/>
            </a:pPr>
            <a:r>
              <a:rPr lang="id"/>
              <a:t>Hal ini mungkin terlihat sederhana, namun ketika skalanya sudah besar, dan anggota tim sudah banyak, maka perubahan langsung ke database bukanlah hal sederhana lagi</a:t>
            </a:r>
            <a:endParaRPr/>
          </a:p>
          <a:p>
            <a:pPr indent="-311150" lvl="0" marL="457200" rtl="0" algn="l">
              <a:spcBef>
                <a:spcPts val="0"/>
              </a:spcBef>
              <a:spcAft>
                <a:spcPts val="0"/>
              </a:spcAft>
              <a:buSzPts val="1300"/>
              <a:buChar char="●"/>
            </a:pPr>
            <a:r>
              <a:rPr lang="id"/>
              <a:t>Kita harus bisa melakukan tracking apa saja yang berubah, dan memastikan semua anggota tim tahu perubahannya, sehingga bisa dilakukan hal yang sama di komputer masing-masing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Keuntungan Database Migration</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Oleh karena itu, Database Migration sangat diperlukan</a:t>
            </a:r>
            <a:endParaRPr/>
          </a:p>
          <a:p>
            <a:pPr indent="-311150" lvl="0" marL="457200" rtl="0" algn="l">
              <a:spcBef>
                <a:spcPts val="0"/>
              </a:spcBef>
              <a:spcAft>
                <a:spcPts val="0"/>
              </a:spcAft>
              <a:buSzPts val="1300"/>
              <a:buChar char="●"/>
            </a:pPr>
            <a:r>
              <a:rPr lang="id"/>
              <a:t>Database Migration adalah mekanisme untuk melakukan tracking perubahan struktur database, dari mulai awal dibuat sampai perubahan terakhir yang dilakukan</a:t>
            </a:r>
            <a:endParaRPr/>
          </a:p>
          <a:p>
            <a:pPr indent="-311150" lvl="0" marL="457200" rtl="0" algn="l">
              <a:spcBef>
                <a:spcPts val="0"/>
              </a:spcBef>
              <a:spcAft>
                <a:spcPts val="0"/>
              </a:spcAft>
              <a:buSzPts val="1300"/>
              <a:buChar char="●"/>
            </a:pPr>
            <a:r>
              <a:rPr lang="id"/>
              <a:t>Mirip seperti Git, dimana melakukan tracking semua perubahan kode program</a:t>
            </a:r>
            <a:endParaRPr/>
          </a:p>
          <a:p>
            <a:pPr indent="-311150" lvl="0" marL="457200" rtl="0" algn="l">
              <a:spcBef>
                <a:spcPts val="0"/>
              </a:spcBef>
              <a:spcAft>
                <a:spcPts val="0"/>
              </a:spcAft>
              <a:buSzPts val="1300"/>
              <a:buChar char="●"/>
            </a:pPr>
            <a:r>
              <a:rPr lang="id"/>
              <a:t>Dengan menggunakan Database Migration, semua tim member bisa melihat perubahan struktur database, dan bisa dengan mudah menjalankan perubahan tersebut di tiap komputer masing-masing</a:t>
            </a:r>
            <a:endParaRPr/>
          </a:p>
          <a:p>
            <a:pPr indent="-311150" lvl="0" marL="457200" rtl="0" algn="l">
              <a:spcBef>
                <a:spcPts val="0"/>
              </a:spcBef>
              <a:spcAft>
                <a:spcPts val="0"/>
              </a:spcAft>
              <a:buSzPts val="1300"/>
              <a:buChar char="●"/>
            </a:pPr>
            <a:r>
              <a:rPr lang="id"/>
              <a:t>Selain itu, dengan adanya Database Migration, kita bisa melakukan review terlebih dahulu, sebelum menjalankan perubahan di database, jaga-jaga ada perubahan yang salah, yang bisa berdampak berbahaya ke database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Golang Migrate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Golang Migrate</a:t>
            </a:r>
            <a:endParaRPr/>
          </a:p>
        </p:txBody>
      </p:sp>
      <p:sp>
        <p:nvSpPr>
          <p:cNvPr id="217" name="Google Shape;217;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Migrate adalah salah satu tool untuk Database Migration yang populer digunakan oleh programmer Golang</a:t>
            </a:r>
            <a:endParaRPr/>
          </a:p>
          <a:p>
            <a:pPr indent="-311150" lvl="0" marL="457200" rtl="0" algn="l">
              <a:spcBef>
                <a:spcPts val="0"/>
              </a:spcBef>
              <a:spcAft>
                <a:spcPts val="0"/>
              </a:spcAft>
              <a:buSzPts val="1300"/>
              <a:buChar char="●"/>
            </a:pPr>
            <a:r>
              <a:rPr lang="id"/>
              <a:t>Golang Migrate bisa diintegrasikan dengan aplikasi, atau dijalankan sebagai aplikasi standalone</a:t>
            </a:r>
            <a:endParaRPr/>
          </a:p>
          <a:p>
            <a:pPr indent="-311150" lvl="0" marL="457200" rtl="0" algn="l">
              <a:spcBef>
                <a:spcPts val="0"/>
              </a:spcBef>
              <a:spcAft>
                <a:spcPts val="0"/>
              </a:spcAft>
              <a:buSzPts val="1300"/>
              <a:buChar char="●"/>
            </a:pPr>
            <a:r>
              <a:rPr lang="id"/>
              <a:t>Golang Migrate mendukung banyak sekali database, seperti MySQL, PostgreSQL, Sqlite, MongoDB, Cassandra, dan lain-lain</a:t>
            </a:r>
            <a:endParaRPr/>
          </a:p>
          <a:p>
            <a:pPr indent="-311150" lvl="0" marL="457200" rtl="0" algn="l">
              <a:spcBef>
                <a:spcPts val="0"/>
              </a:spcBef>
              <a:spcAft>
                <a:spcPts val="0"/>
              </a:spcAft>
              <a:buSzPts val="1300"/>
              <a:buChar char="●"/>
            </a:pPr>
            <a:r>
              <a:rPr lang="id" u="sng">
                <a:solidFill>
                  <a:schemeClr val="hlink"/>
                </a:solidFill>
                <a:hlinkClick r:id="rId3"/>
              </a:rPr>
              <a:t>https://github.com/golang-migrate/migrate</a:t>
            </a:r>
            <a:r>
              <a:rPr lang="id"/>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Golang Migrate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Golang Migrate</a:t>
            </a:r>
            <a:endParaRPr/>
          </a:p>
        </p:txBody>
      </p:sp>
      <p:sp>
        <p:nvSpPr>
          <p:cNvPr id="228" name="Google Shape;228;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menginstall Golang Migrate, sangat mudah, kita bisa gunakan perintah berikut :</a:t>
            </a:r>
            <a:br>
              <a:rPr lang="id"/>
            </a:br>
            <a:r>
              <a:rPr lang="id"/>
              <a:t>go install -tags ‘database1,database2’ github.com/golang-migrate/migrate/v4/cmd/migrate@latest</a:t>
            </a:r>
            <a:endParaRPr/>
          </a:p>
          <a:p>
            <a:pPr indent="-311150" lvl="0" marL="457200" rtl="0" algn="l">
              <a:spcBef>
                <a:spcPts val="0"/>
              </a:spcBef>
              <a:spcAft>
                <a:spcPts val="0"/>
              </a:spcAft>
              <a:buSzPts val="1300"/>
              <a:buChar char="●"/>
            </a:pPr>
            <a:r>
              <a:rPr lang="id"/>
              <a:t>Sesuaikan dengan database yang ingin kita gunakan, bisa lebih dari satu dengan cara menambahkan koma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Menginstall Golang Migrate</a:t>
            </a:r>
            <a:endParaRPr/>
          </a:p>
        </p:txBody>
      </p:sp>
      <p:pic>
        <p:nvPicPr>
          <p:cNvPr id="234" name="Google Shape;234;p37"/>
          <p:cNvPicPr preferRelativeResize="0"/>
          <p:nvPr/>
        </p:nvPicPr>
        <p:blipFill>
          <a:blip r:embed="rId3">
            <a:alphaModFix/>
          </a:blip>
          <a:stretch>
            <a:fillRect/>
          </a:stretch>
        </p:blipFill>
        <p:spPr>
          <a:xfrm>
            <a:off x="152400" y="2006250"/>
            <a:ext cx="8839201" cy="26595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Aplikasi migrate</a:t>
            </a:r>
            <a:endParaRPr/>
          </a:p>
        </p:txBody>
      </p:sp>
      <p:sp>
        <p:nvSpPr>
          <p:cNvPr id="240" name="Google Shape;240;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menginstall Golang Migrate, secara otomatis terdapat executable file di folder $GOPATH/bin/ dengan nama migrate</a:t>
            </a:r>
            <a:endParaRPr/>
          </a:p>
          <a:p>
            <a:pPr indent="-311150" lvl="0" marL="457200" rtl="0" algn="l">
              <a:spcBef>
                <a:spcPts val="0"/>
              </a:spcBef>
              <a:spcAft>
                <a:spcPts val="0"/>
              </a:spcAft>
              <a:buSzPts val="1300"/>
              <a:buChar char="●"/>
            </a:pPr>
            <a:r>
              <a:rPr lang="id"/>
              <a:t>File migrate tersebut adalah aplikasi Golang Migrate yang akan kita gunakan untuk membuat Database Migration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Aplikasi migrate</a:t>
            </a:r>
            <a:endParaRPr/>
          </a:p>
        </p:txBody>
      </p:sp>
      <p:pic>
        <p:nvPicPr>
          <p:cNvPr id="246" name="Google Shape;246;p39"/>
          <p:cNvPicPr preferRelativeResize="0"/>
          <p:nvPr/>
        </p:nvPicPr>
        <p:blipFill>
          <a:blip r:embed="rId3">
            <a:alphaModFix/>
          </a:blip>
          <a:stretch>
            <a:fillRect/>
          </a:stretch>
        </p:blipFill>
        <p:spPr>
          <a:xfrm>
            <a:off x="152400" y="2006250"/>
            <a:ext cx="7482220" cy="298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57" name="Google Shape;257;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Sebagai contoh, kita akan menggunakan project Golang RESTful API yang pernah kita buat, lalu kita akan tambahkan Database Migration ke project tersebut</a:t>
            </a:r>
            <a:endParaRPr/>
          </a:p>
          <a:p>
            <a:pPr indent="-311150" lvl="0" marL="457200" rtl="0" algn="l">
              <a:spcBef>
                <a:spcPts val="0"/>
              </a:spcBef>
              <a:spcAft>
                <a:spcPts val="0"/>
              </a:spcAft>
              <a:buSzPts val="1300"/>
              <a:buChar char="●"/>
            </a:pPr>
            <a:r>
              <a:rPr lang="id" u="sng">
                <a:solidFill>
                  <a:schemeClr val="hlink"/>
                </a:solidFill>
                <a:hlinkClick r:id="rId3"/>
              </a:rPr>
              <a:t>https://github.com/ProgrammerZamanNow/belajar-golang-restful-api</a:t>
            </a:r>
            <a:r>
              <a:rPr lang="id"/>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Database Migration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Database Migration</a:t>
            </a:r>
            <a:endParaRPr/>
          </a:p>
        </p:txBody>
      </p:sp>
      <p:sp>
        <p:nvSpPr>
          <p:cNvPr id="268" name="Google Shape;268;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database migration, kita bisa gunakan perintah :</a:t>
            </a:r>
            <a:br>
              <a:rPr lang="id"/>
            </a:br>
            <a:r>
              <a:rPr lang="id"/>
              <a:t>migrate create -ext sql -dir db/migrations nama_file_migration</a:t>
            </a:r>
            <a:endParaRPr/>
          </a:p>
          <a:p>
            <a:pPr indent="-311150" lvl="0" marL="457200" rtl="0" algn="l">
              <a:spcBef>
                <a:spcPts val="0"/>
              </a:spcBef>
              <a:spcAft>
                <a:spcPts val="0"/>
              </a:spcAft>
              <a:buSzPts val="1300"/>
              <a:buChar char="●"/>
            </a:pPr>
            <a:r>
              <a:rPr lang="id"/>
              <a:t>-ext adalah file extension, artinya kita membuat file .sql</a:t>
            </a:r>
            <a:endParaRPr/>
          </a:p>
          <a:p>
            <a:pPr indent="-311150" lvl="0" marL="457200" rtl="0" algn="l">
              <a:spcBef>
                <a:spcPts val="0"/>
              </a:spcBef>
              <a:spcAft>
                <a:spcPts val="0"/>
              </a:spcAft>
              <a:buSzPts val="1300"/>
              <a:buChar char="●"/>
            </a:pPr>
            <a:r>
              <a:rPr lang="id"/>
              <a:t>-dir adalah folder tempat disimpan</a:t>
            </a:r>
            <a:endParaRPr/>
          </a:p>
          <a:p>
            <a:pPr indent="-311150" lvl="0" marL="457200" rtl="0" algn="l">
              <a:spcBef>
                <a:spcPts val="0"/>
              </a:spcBef>
              <a:spcAft>
                <a:spcPts val="0"/>
              </a:spcAft>
              <a:buSzPts val="1300"/>
              <a:buChar char="●"/>
            </a:pPr>
            <a:r>
              <a:rPr lang="id"/>
              <a:t>Usahakan tidak menggunakan spasi pada nama file migration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Database Migration</a:t>
            </a:r>
            <a:endParaRPr/>
          </a:p>
        </p:txBody>
      </p:sp>
      <p:pic>
        <p:nvPicPr>
          <p:cNvPr id="274" name="Google Shape;274;p44"/>
          <p:cNvPicPr preferRelativeResize="0"/>
          <p:nvPr/>
        </p:nvPicPr>
        <p:blipFill>
          <a:blip r:embed="rId3">
            <a:alphaModFix/>
          </a:blip>
          <a:stretch>
            <a:fillRect/>
          </a:stretch>
        </p:blipFill>
        <p:spPr>
          <a:xfrm>
            <a:off x="152400" y="2006250"/>
            <a:ext cx="8839199" cy="18276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File Migration</a:t>
            </a:r>
            <a:endParaRPr/>
          </a:p>
        </p:txBody>
      </p:sp>
      <p:sp>
        <p:nvSpPr>
          <p:cNvPr id="280" name="Google Shape;280;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File migration akan diawali dengan waktu ketika kita membuat file migration, lalu diikuti dengan nama migration, dan diakhiri dengan tipe migration</a:t>
            </a:r>
            <a:endParaRPr/>
          </a:p>
          <a:p>
            <a:pPr indent="-311150" lvl="0" marL="457200" rtl="0" algn="l">
              <a:spcBef>
                <a:spcPts val="0"/>
              </a:spcBef>
              <a:spcAft>
                <a:spcPts val="0"/>
              </a:spcAft>
              <a:buSzPts val="1300"/>
              <a:buChar char="●"/>
            </a:pPr>
            <a:r>
              <a:rPr lang="id"/>
              <a:t>misal 20220921103313_create_table_category.up.sql</a:t>
            </a:r>
            <a:endParaRPr/>
          </a:p>
          <a:p>
            <a:pPr indent="-311150" lvl="0" marL="457200" rtl="0" algn="l">
              <a:spcBef>
                <a:spcPts val="0"/>
              </a:spcBef>
              <a:spcAft>
                <a:spcPts val="0"/>
              </a:spcAft>
              <a:buSzPts val="1300"/>
              <a:buChar char="●"/>
            </a:pPr>
            <a:r>
              <a:rPr lang="id"/>
              <a:t>Kenapa diawali dengan waktu? Agar file migration selalu berurut sesuai waktu kita membuat file migration tersebut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Up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Up</a:t>
            </a:r>
            <a:endParaRPr/>
          </a:p>
        </p:txBody>
      </p:sp>
      <p:sp>
        <p:nvSpPr>
          <p:cNvPr id="291" name="Google Shape;291;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file database migration, file dengan akhiran up adalah file yang harus kita isi dengan perubahan yang ingin kita tambahkan</a:t>
            </a:r>
            <a:endParaRPr/>
          </a:p>
          <a:p>
            <a:pPr indent="-311150" lvl="0" marL="457200" rtl="0" algn="l">
              <a:spcBef>
                <a:spcPts val="0"/>
              </a:spcBef>
              <a:spcAft>
                <a:spcPts val="0"/>
              </a:spcAft>
              <a:buSzPts val="1300"/>
              <a:buChar char="●"/>
            </a:pPr>
            <a:r>
              <a:rPr lang="id"/>
              <a:t>Misal, sekarang kita akan tambahkan table category, sesuai dengan aplikasi RESTful API yang sudah kita buat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Migration Up</a:t>
            </a:r>
            <a:endParaRPr/>
          </a:p>
        </p:txBody>
      </p:sp>
      <p:pic>
        <p:nvPicPr>
          <p:cNvPr id="297" name="Google Shape;297;p48"/>
          <p:cNvPicPr preferRelativeResize="0"/>
          <p:nvPr/>
        </p:nvPicPr>
        <p:blipFill>
          <a:blip r:embed="rId3">
            <a:alphaModFix/>
          </a:blip>
          <a:stretch>
            <a:fillRect/>
          </a:stretch>
        </p:blipFill>
        <p:spPr>
          <a:xfrm>
            <a:off x="152400" y="2006250"/>
            <a:ext cx="8761980"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Down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Down</a:t>
            </a:r>
            <a:endParaRPr/>
          </a:p>
        </p:txBody>
      </p:sp>
      <p:sp>
        <p:nvSpPr>
          <p:cNvPr id="308" name="Google Shape;308;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Setiap file migration, selain file up, terdapat juga file down</a:t>
            </a:r>
            <a:endParaRPr/>
          </a:p>
          <a:p>
            <a:pPr indent="-311150" lvl="0" marL="457200" rtl="0" algn="l">
              <a:spcBef>
                <a:spcPts val="0"/>
              </a:spcBef>
              <a:spcAft>
                <a:spcPts val="0"/>
              </a:spcAft>
              <a:buSzPts val="1300"/>
              <a:buChar char="●"/>
            </a:pPr>
            <a:r>
              <a:rPr lang="id"/>
              <a:t>File down ini adalah file yang berisikan kode untuk mengembalikan perubahan yang kita lakukan di file up</a:t>
            </a:r>
            <a:endParaRPr/>
          </a:p>
          <a:p>
            <a:pPr indent="-311150" lvl="0" marL="457200" rtl="0" algn="l">
              <a:spcBef>
                <a:spcPts val="0"/>
              </a:spcBef>
              <a:spcAft>
                <a:spcPts val="0"/>
              </a:spcAft>
              <a:buSzPts val="1300"/>
              <a:buChar char="●"/>
            </a:pPr>
            <a:r>
              <a:rPr lang="id"/>
              <a:t>Kenapa ini diperlukan? Karena misal terjadi masalah di aplikasi, namun database migration terlanjur dijalankan, kita bisa melakukan rollback dengan cara menjalankan file down, karena berisikan kode untuk mengembalikan perubahan di file up</a:t>
            </a:r>
            <a:endParaRPr/>
          </a:p>
          <a:p>
            <a:pPr indent="-311150" lvl="0" marL="457200" rtl="0" algn="l">
              <a:spcBef>
                <a:spcPts val="0"/>
              </a:spcBef>
              <a:spcAft>
                <a:spcPts val="0"/>
              </a:spcAft>
              <a:buSzPts val="1300"/>
              <a:buChar char="●"/>
            </a:pPr>
            <a:r>
              <a:rPr lang="id"/>
              <a:t>Pada kasus ini, misal kita akan menghapus lagi table category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Migration Down</a:t>
            </a:r>
            <a:endParaRPr/>
          </a:p>
        </p:txBody>
      </p:sp>
      <p:pic>
        <p:nvPicPr>
          <p:cNvPr id="314" name="Google Shape;314;p51"/>
          <p:cNvPicPr preferRelativeResize="0"/>
          <p:nvPr/>
        </p:nvPicPr>
        <p:blipFill>
          <a:blip r:embed="rId3">
            <a:alphaModFix/>
          </a:blip>
          <a:stretch>
            <a:fillRect/>
          </a:stretch>
        </p:blipFill>
        <p:spPr>
          <a:xfrm>
            <a:off x="152400" y="2006250"/>
            <a:ext cx="8839200" cy="22516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Database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Database</a:t>
            </a:r>
            <a:endParaRPr/>
          </a:p>
        </p:txBody>
      </p:sp>
      <p:sp>
        <p:nvSpPr>
          <p:cNvPr id="325" name="Google Shape;325;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 menjalankan Database Migration, sekarang kita perlu membuat dulu database nya</a:t>
            </a:r>
            <a:endParaRPr/>
          </a:p>
          <a:p>
            <a:pPr indent="-311150" lvl="0" marL="457200" rtl="0" algn="l">
              <a:spcBef>
                <a:spcPts val="0"/>
              </a:spcBef>
              <a:spcAft>
                <a:spcPts val="0"/>
              </a:spcAft>
              <a:buSzPts val="1300"/>
              <a:buChar char="●"/>
            </a:pPr>
            <a:r>
              <a:rPr lang="id"/>
              <a:t>Hal ini karena pembuatan database tidak dilakukan di database migration, biasanya dilakukan manual diawal</a:t>
            </a:r>
            <a:endParaRPr/>
          </a:p>
          <a:p>
            <a:pPr indent="-311150" lvl="0" marL="457200" rtl="0" algn="l">
              <a:spcBef>
                <a:spcPts val="0"/>
              </a:spcBef>
              <a:spcAft>
                <a:spcPts val="0"/>
              </a:spcAft>
              <a:buSzPts val="1300"/>
              <a:buChar char="●"/>
            </a:pPr>
            <a:r>
              <a:rPr lang="id"/>
              <a:t>Pada kasus ini, kita menggunakan database mysql, dan kita perlu ubah juga kode koneksi database di aplikasi agar terhubung dengan database baru</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Golang Connection</a:t>
            </a:r>
            <a:endParaRPr/>
          </a:p>
        </p:txBody>
      </p:sp>
      <p:pic>
        <p:nvPicPr>
          <p:cNvPr id="331" name="Google Shape;331;p54"/>
          <p:cNvPicPr preferRelativeResize="0"/>
          <p:nvPr/>
        </p:nvPicPr>
        <p:blipFill>
          <a:blip r:embed="rId3">
            <a:alphaModFix/>
          </a:blip>
          <a:stretch>
            <a:fillRect/>
          </a:stretch>
        </p:blipFill>
        <p:spPr>
          <a:xfrm>
            <a:off x="152400" y="2006250"/>
            <a:ext cx="7631920" cy="29848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Database</a:t>
            </a:r>
            <a:endParaRPr/>
          </a:p>
        </p:txBody>
      </p:sp>
      <p:pic>
        <p:nvPicPr>
          <p:cNvPr id="337" name="Google Shape;337;p55"/>
          <p:cNvPicPr preferRelativeResize="0"/>
          <p:nvPr/>
        </p:nvPicPr>
        <p:blipFill>
          <a:blip r:embed="rId3">
            <a:alphaModFix/>
          </a:blip>
          <a:stretch>
            <a:fillRect/>
          </a:stretch>
        </p:blipFill>
        <p:spPr>
          <a:xfrm>
            <a:off x="152400" y="2006250"/>
            <a:ext cx="8839200" cy="2209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Migration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Migration</a:t>
            </a:r>
            <a:endParaRPr/>
          </a:p>
        </p:txBody>
      </p:sp>
      <p:sp>
        <p:nvSpPr>
          <p:cNvPr id="348" name="Google Shape;348;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Selanjutnya, setelah selesai, kita bisa menjalan database migration menggunakan perintah :</a:t>
            </a:r>
            <a:br>
              <a:rPr lang="id"/>
            </a:br>
            <a:r>
              <a:rPr lang="id"/>
              <a:t>migrate -database "koneksidatabase" -path folder up</a:t>
            </a:r>
            <a:endParaRPr/>
          </a:p>
          <a:p>
            <a:pPr indent="-311150" lvl="0" marL="457200" rtl="0" algn="l">
              <a:spcBef>
                <a:spcPts val="0"/>
              </a:spcBef>
              <a:spcAft>
                <a:spcPts val="0"/>
              </a:spcAft>
              <a:buSzPts val="1300"/>
              <a:buChar char="●"/>
            </a:pPr>
            <a:r>
              <a:rPr lang="id"/>
              <a:t>-database harus berisikan koneksi database, misal untuk mysql, bisa menggunakan : mysql://user:password@tcp(host:port)/nama_database</a:t>
            </a:r>
            <a:endParaRPr/>
          </a:p>
          <a:p>
            <a:pPr indent="-311150" lvl="0" marL="457200" rtl="0" algn="l">
              <a:spcBef>
                <a:spcPts val="0"/>
              </a:spcBef>
              <a:spcAft>
                <a:spcPts val="0"/>
              </a:spcAft>
              <a:buSzPts val="1300"/>
              <a:buChar char="●"/>
            </a:pPr>
            <a:r>
              <a:rPr lang="id"/>
              <a:t>Untuk database lainnya, bisa lihat di halaman dokumentasinya : </a:t>
            </a:r>
            <a:r>
              <a:rPr lang="id" u="sng">
                <a:solidFill>
                  <a:schemeClr val="hlink"/>
                </a:solidFill>
                <a:hlinkClick r:id="rId3"/>
              </a:rPr>
              <a:t>https://github.com/golang-migrate/migrate#databases</a:t>
            </a:r>
            <a:r>
              <a:rPr lang="id"/>
              <a:t> </a:t>
            </a:r>
            <a:endParaRPr/>
          </a:p>
          <a:p>
            <a:pPr indent="-311150" lvl="0" marL="457200" rtl="0" algn="l">
              <a:spcBef>
                <a:spcPts val="0"/>
              </a:spcBef>
              <a:spcAft>
                <a:spcPts val="0"/>
              </a:spcAft>
              <a:buSzPts val="1300"/>
              <a:buChar char="●"/>
            </a:pPr>
            <a:r>
              <a:rPr lang="id"/>
              <a:t>-path adalah lokasi folder file database migration</a:t>
            </a:r>
            <a:endParaRPr/>
          </a:p>
          <a:p>
            <a:pPr indent="-311150" lvl="0" marL="457200" rtl="0" algn="l">
              <a:spcBef>
                <a:spcPts val="0"/>
              </a:spcBef>
              <a:spcAft>
                <a:spcPts val="0"/>
              </a:spcAft>
              <a:buSzPts val="1300"/>
              <a:buChar char="●"/>
            </a:pPr>
            <a:r>
              <a:rPr lang="id"/>
              <a:t>up adalah perintah untuk menjalankan database migration dengan mode up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Menjalankan Migration</a:t>
            </a:r>
            <a:endParaRPr/>
          </a:p>
        </p:txBody>
      </p:sp>
      <p:pic>
        <p:nvPicPr>
          <p:cNvPr id="354" name="Google Shape;354;p58"/>
          <p:cNvPicPr preferRelativeResize="0"/>
          <p:nvPr/>
        </p:nvPicPr>
        <p:blipFill>
          <a:blip r:embed="rId3">
            <a:alphaModFix/>
          </a:blip>
          <a:stretch>
            <a:fillRect/>
          </a:stretch>
        </p:blipFill>
        <p:spPr>
          <a:xfrm>
            <a:off x="152400" y="2006250"/>
            <a:ext cx="8839201" cy="130682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State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Migration State</a:t>
            </a:r>
            <a:endParaRPr/>
          </a:p>
        </p:txBody>
      </p:sp>
      <p:sp>
        <p:nvSpPr>
          <p:cNvPr id="365" name="Google Shape;365;p6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sudah melakukan migration, lalu kita menambah file migration baru, apa yang terjadi jika kita menjalankan migration lagi?</a:t>
            </a:r>
            <a:endParaRPr/>
          </a:p>
          <a:p>
            <a:pPr indent="-311150" lvl="0" marL="457200" rtl="0" algn="l">
              <a:spcBef>
                <a:spcPts val="0"/>
              </a:spcBef>
              <a:spcAft>
                <a:spcPts val="0"/>
              </a:spcAft>
              <a:buSzPts val="1300"/>
              <a:buChar char="●"/>
            </a:pPr>
            <a:r>
              <a:rPr lang="id"/>
              <a:t>Golang Migrate akan menyimpan state terakhir kita menjalankan database migration, artinya tidak akan dijalankan dari awal lagi, melainkan dari file terakhir yang sukses di migrasi</a:t>
            </a:r>
            <a:endParaRPr/>
          </a:p>
          <a:p>
            <a:pPr indent="-311150" lvl="0" marL="457200" rtl="0" algn="l">
              <a:spcBef>
                <a:spcPts val="0"/>
              </a:spcBef>
              <a:spcAft>
                <a:spcPts val="0"/>
              </a:spcAft>
              <a:buSzPts val="1300"/>
              <a:buChar char="●"/>
            </a:pPr>
            <a:r>
              <a:rPr lang="id"/>
              <a:t>Jadi kita tidak perlu takut file akan dijalankan lagi, jadi tidak perlu dihapus file migration lama-nya</a:t>
            </a:r>
            <a:endParaRPr/>
          </a:p>
          <a:p>
            <a:pPr indent="-311150" lvl="0" marL="457200" rtl="0" algn="l">
              <a:spcBef>
                <a:spcPts val="0"/>
              </a:spcBef>
              <a:spcAft>
                <a:spcPts val="0"/>
              </a:spcAft>
              <a:buSzPts val="1300"/>
              <a:buChar char="●"/>
            </a:pPr>
            <a:r>
              <a:rPr lang="id"/>
              <a:t>Semua informasi state tersebut disimpan dalam table schema_migrations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Schema Migrations</a:t>
            </a:r>
            <a:endParaRPr/>
          </a:p>
        </p:txBody>
      </p:sp>
      <p:pic>
        <p:nvPicPr>
          <p:cNvPr id="371" name="Google Shape;371;p61"/>
          <p:cNvPicPr preferRelativeResize="0"/>
          <p:nvPr/>
        </p:nvPicPr>
        <p:blipFill>
          <a:blip r:embed="rId3">
            <a:alphaModFix/>
          </a:blip>
          <a:stretch>
            <a:fillRect/>
          </a:stretch>
        </p:blipFill>
        <p:spPr>
          <a:xfrm>
            <a:off x="152400" y="2006250"/>
            <a:ext cx="7420671" cy="29848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Rollback Migration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Rollback Migration</a:t>
            </a:r>
            <a:endParaRPr/>
          </a:p>
        </p:txBody>
      </p:sp>
      <p:sp>
        <p:nvSpPr>
          <p:cNvPr id="382" name="Google Shape;382;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waktu misal terjadi masalah pada aplikasi, yang menyebabkan kita harus melakukan rollback perubahan, apa yang kita harus lakukan? </a:t>
            </a:r>
            <a:endParaRPr/>
          </a:p>
          <a:p>
            <a:pPr indent="-311150" lvl="0" marL="457200" rtl="0" algn="l">
              <a:spcBef>
                <a:spcPts val="0"/>
              </a:spcBef>
              <a:spcAft>
                <a:spcPts val="0"/>
              </a:spcAft>
              <a:buSzPts val="1300"/>
              <a:buChar char="●"/>
            </a:pPr>
            <a:r>
              <a:rPr lang="id"/>
              <a:t>Fitur itu sudah ada di Golang Migrate, jadi kita bisa menjalankan mode down untuk melakukan rollback dengan perintah :</a:t>
            </a:r>
            <a:br>
              <a:rPr lang="id"/>
            </a:br>
            <a:r>
              <a:rPr lang="id"/>
              <a:t>migrate -database "koneksidatabase" -path folder down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Migration Down</a:t>
            </a:r>
            <a:endParaRPr/>
          </a:p>
        </p:txBody>
      </p:sp>
      <p:pic>
        <p:nvPicPr>
          <p:cNvPr id="388" name="Google Shape;388;p64"/>
          <p:cNvPicPr preferRelativeResize="0"/>
          <p:nvPr/>
        </p:nvPicPr>
        <p:blipFill rotWithShape="1">
          <a:blip r:embed="rId3">
            <a:alphaModFix/>
          </a:blip>
          <a:srcRect b="0" l="31177" r="0" t="0"/>
          <a:stretch/>
        </p:blipFill>
        <p:spPr>
          <a:xfrm>
            <a:off x="294325" y="1978225"/>
            <a:ext cx="8357801" cy="2016050"/>
          </a:xfrm>
          <a:prstGeom prst="rect">
            <a:avLst/>
          </a:prstGeom>
          <a:noFill/>
          <a:ln>
            <a:noFill/>
          </a:ln>
        </p:spPr>
      </p:pic>
      <p:pic>
        <p:nvPicPr>
          <p:cNvPr id="389" name="Google Shape;389;p64"/>
          <p:cNvPicPr preferRelativeResize="0"/>
          <p:nvPr/>
        </p:nvPicPr>
        <p:blipFill rotWithShape="1">
          <a:blip r:embed="rId3">
            <a:alphaModFix/>
          </a:blip>
          <a:srcRect b="0" l="0" r="63502" t="0"/>
          <a:stretch/>
        </p:blipFill>
        <p:spPr>
          <a:xfrm>
            <a:off x="1574925" y="2518725"/>
            <a:ext cx="4661228" cy="2120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Schema Migration</a:t>
            </a:r>
            <a:endParaRPr/>
          </a:p>
        </p:txBody>
      </p:sp>
      <p:pic>
        <p:nvPicPr>
          <p:cNvPr id="395" name="Google Shape;395;p65"/>
          <p:cNvPicPr preferRelativeResize="0"/>
          <p:nvPr/>
        </p:nvPicPr>
        <p:blipFill>
          <a:blip r:embed="rId3">
            <a:alphaModFix/>
          </a:blip>
          <a:stretch>
            <a:fillRect/>
          </a:stretch>
        </p:blipFill>
        <p:spPr>
          <a:xfrm>
            <a:off x="152400" y="2006250"/>
            <a:ext cx="7080654" cy="29848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Migrasi ke Versi Tertentu</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Migrasi ke Versi Tertentu</a:t>
            </a:r>
            <a:endParaRPr/>
          </a:p>
        </p:txBody>
      </p:sp>
      <p:sp>
        <p:nvSpPr>
          <p:cNvPr id="406" name="Google Shape;406;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menggunakan mode up atau down, secara otomatis akan melakukan migrasi seluruh file</a:t>
            </a:r>
            <a:endParaRPr/>
          </a:p>
          <a:p>
            <a:pPr indent="-311150" lvl="0" marL="457200" rtl="0" algn="l">
              <a:spcBef>
                <a:spcPts val="0"/>
              </a:spcBef>
              <a:spcAft>
                <a:spcPts val="0"/>
              </a:spcAft>
              <a:buSzPts val="1300"/>
              <a:buChar char="●"/>
            </a:pPr>
            <a:r>
              <a:rPr lang="id"/>
              <a:t>Kadang pada kenyataanya, kita mungkin hanya ingin melakukan up atau down ke versi tertentu saja</a:t>
            </a:r>
            <a:endParaRPr/>
          </a:p>
          <a:p>
            <a:pPr indent="-311150" lvl="0" marL="457200" rtl="0" algn="l">
              <a:spcBef>
                <a:spcPts val="0"/>
              </a:spcBef>
              <a:spcAft>
                <a:spcPts val="0"/>
              </a:spcAft>
              <a:buSzPts val="1300"/>
              <a:buChar char="●"/>
            </a:pPr>
            <a:r>
              <a:rPr lang="id"/>
              <a:t>Misal jika ingin melakukan rollback, mungkin kita hanya ingin rollback satu versi saja, tidak mau melakukan rollback semua versi</a:t>
            </a:r>
            <a:endParaRPr/>
          </a:p>
          <a:p>
            <a:pPr indent="-311150" lvl="0" marL="457200" rtl="0" algn="l">
              <a:spcBef>
                <a:spcPts val="0"/>
              </a:spcBef>
              <a:spcAft>
                <a:spcPts val="0"/>
              </a:spcAft>
              <a:buSzPts val="1300"/>
              <a:buChar char="●"/>
            </a:pPr>
            <a:r>
              <a:rPr lang="id"/>
              <a:t>Untuk kasus ini, setelah perintah up atau down, kita bisa memasukkan angka, yaitu jumlah migration yang ingin kita eksekusi</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Tugas</a:t>
            </a:r>
            <a:endParaRPr/>
          </a:p>
        </p:txBody>
      </p:sp>
      <p:sp>
        <p:nvSpPr>
          <p:cNvPr id="412" name="Google Shape;412;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Buatlah 3 migration file baru</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Migration</a:t>
            </a:r>
            <a:endParaRPr/>
          </a:p>
        </p:txBody>
      </p:sp>
      <p:pic>
        <p:nvPicPr>
          <p:cNvPr id="418" name="Google Shape;418;p69"/>
          <p:cNvPicPr preferRelativeResize="0"/>
          <p:nvPr/>
        </p:nvPicPr>
        <p:blipFill>
          <a:blip r:embed="rId3">
            <a:alphaModFix/>
          </a:blip>
          <a:stretch>
            <a:fillRect/>
          </a:stretch>
        </p:blipFill>
        <p:spPr>
          <a:xfrm>
            <a:off x="152400" y="2006250"/>
            <a:ext cx="8839200" cy="242073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Tugas</a:t>
            </a:r>
            <a:endParaRPr/>
          </a:p>
        </p:txBody>
      </p:sp>
      <p:sp>
        <p:nvSpPr>
          <p:cNvPr id="424" name="Google Shape;424;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Lakukan up </a:t>
            </a:r>
            <a:endParaRPr/>
          </a:p>
          <a:p>
            <a:pPr indent="-311150" lvl="0" marL="457200" rtl="0" algn="l">
              <a:spcBef>
                <a:spcPts val="0"/>
              </a:spcBef>
              <a:spcAft>
                <a:spcPts val="0"/>
              </a:spcAft>
              <a:buSzPts val="1300"/>
              <a:buChar char="●"/>
            </a:pPr>
            <a:r>
              <a:rPr lang="id"/>
              <a:t>Lakukan down</a:t>
            </a:r>
            <a:endParaRPr/>
          </a:p>
          <a:p>
            <a:pPr indent="-311150" lvl="0" marL="457200" rtl="0" algn="l">
              <a:spcBef>
                <a:spcPts val="0"/>
              </a:spcBef>
              <a:spcAft>
                <a:spcPts val="0"/>
              </a:spcAft>
              <a:buSzPts val="1300"/>
              <a:buChar char="●"/>
            </a:pPr>
            <a:r>
              <a:rPr lang="id"/>
              <a:t>Lakukan up beberapa versi</a:t>
            </a:r>
            <a:endParaRPr/>
          </a:p>
          <a:p>
            <a:pPr indent="-311150" lvl="0" marL="457200" rtl="0" algn="l">
              <a:spcBef>
                <a:spcPts val="0"/>
              </a:spcBef>
              <a:spcAft>
                <a:spcPts val="0"/>
              </a:spcAft>
              <a:buSzPts val="1300"/>
              <a:buChar char="●"/>
            </a:pPr>
            <a:r>
              <a:rPr lang="id"/>
              <a:t>Lakukan down beberapa versi</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Dirty State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Dirty State</a:t>
            </a:r>
            <a:endParaRPr/>
          </a:p>
        </p:txBody>
      </p:sp>
      <p:sp>
        <p:nvSpPr>
          <p:cNvPr id="435" name="Google Shape;435;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database migration, kadang kesalahan sering terjadi</a:t>
            </a:r>
            <a:endParaRPr/>
          </a:p>
          <a:p>
            <a:pPr indent="-311150" lvl="0" marL="457200" rtl="0" algn="l">
              <a:spcBef>
                <a:spcPts val="0"/>
              </a:spcBef>
              <a:spcAft>
                <a:spcPts val="0"/>
              </a:spcAft>
              <a:buSzPts val="1300"/>
              <a:buChar char="●"/>
            </a:pPr>
            <a:r>
              <a:rPr lang="id"/>
              <a:t>Misal saja, kita melakukan typo sehingga membuat perintah SQL nya salah</a:t>
            </a:r>
            <a:endParaRPr/>
          </a:p>
          <a:p>
            <a:pPr indent="-311150" lvl="0" marL="457200" rtl="0" algn="l">
              <a:spcBef>
                <a:spcPts val="0"/>
              </a:spcBef>
              <a:spcAft>
                <a:spcPts val="0"/>
              </a:spcAft>
              <a:buSzPts val="1300"/>
              <a:buChar char="●"/>
            </a:pPr>
            <a:r>
              <a:rPr lang="id"/>
              <a:t>Jika kita terlanjur menjalankan database migration, maka state akan berubah menjadi Dirty State</a:t>
            </a:r>
            <a:endParaRPr/>
          </a:p>
          <a:p>
            <a:pPr indent="-311150" lvl="0" marL="457200" rtl="0" algn="l">
              <a:spcBef>
                <a:spcPts val="0"/>
              </a:spcBef>
              <a:spcAft>
                <a:spcPts val="0"/>
              </a:spcAft>
              <a:buSzPts val="1300"/>
              <a:buChar char="●"/>
            </a:pPr>
            <a:r>
              <a:rPr lang="id"/>
              <a:t>State gimana kita tidak bisa melakukan up atau down lagi</a:t>
            </a:r>
            <a:endParaRPr/>
          </a:p>
          <a:p>
            <a:pPr indent="-311150" lvl="0" marL="457200" rtl="0" algn="l">
              <a:spcBef>
                <a:spcPts val="0"/>
              </a:spcBef>
              <a:spcAft>
                <a:spcPts val="0"/>
              </a:spcAft>
              <a:buSzPts val="1300"/>
              <a:buChar char="●"/>
            </a:pPr>
            <a:r>
              <a:rPr lang="id"/>
              <a:t>Pada kasus ini, kita harus perbaiki manual, kenapa harus manual? Karena tidak ada cara otomatis memperbaikinya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Migration Error</a:t>
            </a:r>
            <a:endParaRPr/>
          </a:p>
        </p:txBody>
      </p:sp>
      <p:pic>
        <p:nvPicPr>
          <p:cNvPr id="441" name="Google Shape;441;p73"/>
          <p:cNvPicPr preferRelativeResize="0"/>
          <p:nvPr/>
        </p:nvPicPr>
        <p:blipFill>
          <a:blip r:embed="rId3">
            <a:alphaModFix/>
          </a:blip>
          <a:stretch>
            <a:fillRect/>
          </a:stretch>
        </p:blipFill>
        <p:spPr>
          <a:xfrm>
            <a:off x="152400" y="2006250"/>
            <a:ext cx="6630630" cy="2984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Menjalankan Migration</a:t>
            </a:r>
            <a:endParaRPr/>
          </a:p>
        </p:txBody>
      </p:sp>
      <p:pic>
        <p:nvPicPr>
          <p:cNvPr id="447" name="Google Shape;447;p74"/>
          <p:cNvPicPr preferRelativeResize="0"/>
          <p:nvPr/>
        </p:nvPicPr>
        <p:blipFill>
          <a:blip r:embed="rId3">
            <a:alphaModFix/>
          </a:blip>
          <a:stretch>
            <a:fillRect/>
          </a:stretch>
        </p:blipFill>
        <p:spPr>
          <a:xfrm>
            <a:off x="152400" y="2006250"/>
            <a:ext cx="8683203" cy="298485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Permasalahan</a:t>
            </a:r>
            <a:endParaRPr/>
          </a:p>
        </p:txBody>
      </p:sp>
      <p:sp>
        <p:nvSpPr>
          <p:cNvPr id="453" name="Google Shape;453;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Permasalahan migration ini adalah, kita membuat dua table di file migration, pada pembuatan table pertama sukses, namun pada table kedua gagal</a:t>
            </a:r>
            <a:endParaRPr/>
          </a:p>
          <a:p>
            <a:pPr indent="-311150" lvl="0" marL="457200" rtl="0" algn="l">
              <a:spcBef>
                <a:spcPts val="0"/>
              </a:spcBef>
              <a:spcAft>
                <a:spcPts val="0"/>
              </a:spcAft>
              <a:buSzPts val="1300"/>
              <a:buChar char="●"/>
            </a:pPr>
            <a:r>
              <a:rPr lang="id"/>
              <a:t>Artinya file migration tidak sempurna, dan kita juga tidak bisa melakukan rollback, karena table kedua belum sukses dibuat</a:t>
            </a:r>
            <a:endParaRPr/>
          </a:p>
          <a:p>
            <a:pPr indent="-311150" lvl="0" marL="457200" rtl="0" algn="l">
              <a:spcBef>
                <a:spcPts val="0"/>
              </a:spcBef>
              <a:spcAft>
                <a:spcPts val="0"/>
              </a:spcAft>
              <a:buSzPts val="1300"/>
              <a:buChar char="●"/>
            </a:pPr>
            <a:r>
              <a:rPr lang="id"/>
              <a:t>Pada kondisi ini, terjadi yang namanya Dirty State, dimana kita tidak bisa melakukan up atau down, yang perlu kita lakukan adalah memperbaiki secara manual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Schema Migrations</a:t>
            </a:r>
            <a:endParaRPr/>
          </a:p>
        </p:txBody>
      </p:sp>
      <p:pic>
        <p:nvPicPr>
          <p:cNvPr id="459" name="Google Shape;459;p76"/>
          <p:cNvPicPr preferRelativeResize="0"/>
          <p:nvPr/>
        </p:nvPicPr>
        <p:blipFill>
          <a:blip r:embed="rId3">
            <a:alphaModFix/>
          </a:blip>
          <a:stretch>
            <a:fillRect/>
          </a:stretch>
        </p:blipFill>
        <p:spPr>
          <a:xfrm>
            <a:off x="152400" y="2006250"/>
            <a:ext cx="6011978" cy="2984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Perbaiki Manual</a:t>
            </a:r>
            <a:endParaRPr/>
          </a:p>
        </p:txBody>
      </p:sp>
      <p:pic>
        <p:nvPicPr>
          <p:cNvPr id="465" name="Google Shape;465;p77"/>
          <p:cNvPicPr preferRelativeResize="0"/>
          <p:nvPr/>
        </p:nvPicPr>
        <p:blipFill>
          <a:blip r:embed="rId3">
            <a:alphaModFix/>
          </a:blip>
          <a:stretch>
            <a:fillRect/>
          </a:stretch>
        </p:blipFill>
        <p:spPr>
          <a:xfrm>
            <a:off x="152400" y="2006250"/>
            <a:ext cx="8839201" cy="126705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Mengubah Versi</a:t>
            </a:r>
            <a:endParaRPr/>
          </a:p>
        </p:txBody>
      </p:sp>
      <p:sp>
        <p:nvSpPr>
          <p:cNvPr id="471" name="Google Shape;471;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memperbaiki secara manual, selanjutnya kita perlu mengubah versi migration di table schema_migrations</a:t>
            </a:r>
            <a:endParaRPr/>
          </a:p>
          <a:p>
            <a:pPr indent="-311150" lvl="0" marL="457200" rtl="0" algn="l">
              <a:spcBef>
                <a:spcPts val="0"/>
              </a:spcBef>
              <a:spcAft>
                <a:spcPts val="0"/>
              </a:spcAft>
              <a:buSzPts val="1300"/>
              <a:buChar char="●"/>
            </a:pPr>
            <a:r>
              <a:rPr lang="id"/>
              <a:t>Kita bisa lakukan manual, atau bisa otomatis menggunakan perintah :</a:t>
            </a:r>
            <a:br>
              <a:rPr lang="id"/>
            </a:br>
            <a:r>
              <a:rPr lang="id"/>
              <a:t>migrate -database "koneksi_database" -path folder force versi</a:t>
            </a:r>
            <a:endParaRPr/>
          </a:p>
          <a:p>
            <a:pPr indent="-311150" lvl="0" marL="457200" rtl="0" algn="l">
              <a:spcBef>
                <a:spcPts val="0"/>
              </a:spcBef>
              <a:spcAft>
                <a:spcPts val="0"/>
              </a:spcAft>
              <a:buSzPts val="1300"/>
              <a:buChar char="●"/>
            </a:pPr>
            <a:r>
              <a:rPr lang="id"/>
              <a:t>Dimana versi adalah versi dari file database migration</a:t>
            </a:r>
            <a:endParaRPr/>
          </a:p>
          <a:p>
            <a:pPr indent="-311150" lvl="0" marL="457200" rtl="0" algn="l">
              <a:spcBef>
                <a:spcPts val="0"/>
              </a:spcBef>
              <a:spcAft>
                <a:spcPts val="0"/>
              </a:spcAft>
              <a:buSzPts val="1300"/>
              <a:buChar char="●"/>
            </a:pPr>
            <a:r>
              <a:rPr lang="id"/>
              <a:t>Pada kasus ini, kita akan gunakan satu versi sebelum migration yang gagal</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Mengubah Versi Migration</a:t>
            </a:r>
            <a:endParaRPr/>
          </a:p>
        </p:txBody>
      </p:sp>
      <p:pic>
        <p:nvPicPr>
          <p:cNvPr id="477" name="Google Shape;477;p79"/>
          <p:cNvPicPr preferRelativeResize="0"/>
          <p:nvPr/>
        </p:nvPicPr>
        <p:blipFill>
          <a:blip r:embed="rId3">
            <a:alphaModFix/>
          </a:blip>
          <a:stretch>
            <a:fillRect/>
          </a:stretch>
        </p:blipFill>
        <p:spPr>
          <a:xfrm>
            <a:off x="152400" y="2006250"/>
            <a:ext cx="8839204" cy="78119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Selanjutnya</a:t>
            </a:r>
            <a:endParaRPr/>
          </a:p>
        </p:txBody>
      </p:sp>
      <p:sp>
        <p:nvSpPr>
          <p:cNvPr id="483" name="Google Shape;483;p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Selanjutnya kita bisa perbaiki file database migration nya</a:t>
            </a:r>
            <a:endParaRPr/>
          </a:p>
          <a:p>
            <a:pPr indent="-311150" lvl="0" marL="457200" rtl="0" algn="l">
              <a:spcBef>
                <a:spcPts val="0"/>
              </a:spcBef>
              <a:spcAft>
                <a:spcPts val="0"/>
              </a:spcAft>
              <a:buSzPts val="1300"/>
              <a:buChar char="●"/>
            </a:pPr>
            <a:r>
              <a:rPr lang="id"/>
              <a:t>Lalu ulangi jalankan file migration nya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Mencoba Aplikasi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Mencoba Aplikasi</a:t>
            </a:r>
            <a:endParaRPr/>
          </a:p>
        </p:txBody>
      </p:sp>
      <p:sp>
        <p:nvSpPr>
          <p:cNvPr id="494" name="Google Shape;494;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Sekarang sebelum kita menjalankan aplikasi, selalu jalankan database migration terlebih dahulu</a:t>
            </a:r>
            <a:endParaRPr/>
          </a:p>
          <a:p>
            <a:pPr indent="-311150" lvl="0" marL="457200" rtl="0" algn="l">
              <a:spcBef>
                <a:spcPts val="0"/>
              </a:spcBef>
              <a:spcAft>
                <a:spcPts val="0"/>
              </a:spcAft>
              <a:buSzPts val="1300"/>
              <a:buChar char="●"/>
            </a:pPr>
            <a:r>
              <a:rPr lang="id"/>
              <a:t>Dan selanjutnya kita bisa mencoba menjalankan aplikasinya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505" name="Google Shape;505;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Belajar Framework dan Library Go-Lang</a:t>
            </a:r>
            <a:endParaRPr/>
          </a:p>
          <a:p>
            <a:pPr indent="-311150" lvl="0" marL="457200" rtl="0" algn="l">
              <a:spcBef>
                <a:spcPts val="0"/>
              </a:spcBef>
              <a:spcAft>
                <a:spcPts val="0"/>
              </a:spcAft>
              <a:buSzPts val="1300"/>
              <a:buChar char="●"/>
            </a:pPr>
            <a:r>
              <a:rPr lang="id"/>
              <a:t>Studi Kasus Membuat Aplikasi menggunakan Go-Lang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